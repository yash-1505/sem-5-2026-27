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6282" y="3081604"/>
            <a:ext cx="2096135" cy="56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47523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5145"/>
            <a:ext cx="9144000" cy="668279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0503" y="2791968"/>
            <a:ext cx="5431536" cy="28041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348816"/>
            <a:ext cx="8986520" cy="512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186" y="2068144"/>
            <a:ext cx="8682990" cy="299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jpg"/><Relationship Id="rId4" Type="http://schemas.openxmlformats.org/officeDocument/2006/relationships/image" Target="../media/image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7.jpg"/><Relationship Id="rId4" Type="http://schemas.openxmlformats.org/officeDocument/2006/relationships/image" Target="../media/image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8.jpg"/><Relationship Id="rId4" Type="http://schemas.openxmlformats.org/officeDocument/2006/relationships/image" Target="../media/image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image" Target="../media/image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0.jpg"/><Relationship Id="rId4" Type="http://schemas.openxmlformats.org/officeDocument/2006/relationships/image" Target="../media/image9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1.jpg"/><Relationship Id="rId4" Type="http://schemas.openxmlformats.org/officeDocument/2006/relationships/image" Target="../media/image9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image" Target="../media/image22.jpg"/><Relationship Id="rId5" Type="http://schemas.openxmlformats.org/officeDocument/2006/relationships/image" Target="../media/image24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5.png"/><Relationship Id="rId4" Type="http://schemas.openxmlformats.org/officeDocument/2006/relationships/image" Target="../media/image22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2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2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2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22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5.png"/><Relationship Id="rId4" Type="http://schemas.openxmlformats.org/officeDocument/2006/relationships/image" Target="../media/image22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hyperlink" Target="http://www.paruluniversity.ac.in/" TargetMode="External"/><Relationship Id="rId6" Type="http://schemas.openxmlformats.org/officeDocument/2006/relationships/image" Target="../media/image3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temp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49727" y="1925523"/>
            <a:ext cx="3841750" cy="5600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>
                <a:solidFill>
                  <a:srgbClr val="000000"/>
                </a:solidFill>
                <a:latin typeface="Calibri"/>
                <a:cs typeface="Calibri"/>
              </a:rPr>
              <a:t>Artificial</a:t>
            </a:r>
            <a:r>
              <a:rPr dirty="0" sz="350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000000"/>
                </a:solidFill>
                <a:latin typeface="Calibri"/>
                <a:cs typeface="Calibri"/>
              </a:rPr>
              <a:t>Intelligence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2526" y="2873197"/>
            <a:ext cx="2759075" cy="6946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2630"/>
              </a:lnSpc>
              <a:spcBef>
                <a:spcPts val="110"/>
              </a:spcBef>
            </a:pPr>
            <a:r>
              <a:rPr dirty="0" sz="2200" b="1">
                <a:latin typeface="Calibri"/>
                <a:cs typeface="Calibri"/>
              </a:rPr>
              <a:t>ASHWANI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CHAUDHARY</a:t>
            </a:r>
            <a:endParaRPr sz="2200">
              <a:latin typeface="Calibri"/>
              <a:cs typeface="Calibri"/>
            </a:endParaRPr>
          </a:p>
          <a:p>
            <a:pPr algn="ctr" marL="2540">
              <a:lnSpc>
                <a:spcPts val="2630"/>
              </a:lnSpc>
            </a:pPr>
            <a:r>
              <a:rPr dirty="0" sz="2200" spc="-10">
                <a:latin typeface="Calibri"/>
                <a:cs typeface="Calibri"/>
              </a:rPr>
              <a:t>AIDS,DEPARTMENT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682751"/>
            <a:ext cx="8437245" cy="2103120"/>
            <a:chOff x="457200" y="682751"/>
            <a:chExt cx="8437245" cy="2103120"/>
          </a:xfrm>
        </p:grpSpPr>
        <p:sp>
          <p:nvSpPr>
            <p:cNvPr id="6" name="object 6"/>
            <p:cNvSpPr/>
            <p:nvPr/>
          </p:nvSpPr>
          <p:spPr>
            <a:xfrm>
              <a:off x="1418844" y="2738628"/>
              <a:ext cx="6286500" cy="1905"/>
            </a:xfrm>
            <a:custGeom>
              <a:avLst/>
              <a:gdLst/>
              <a:ahLst/>
              <a:cxnLst/>
              <a:rect l="l" t="t" r="r" b="b"/>
              <a:pathLst>
                <a:path w="6286500" h="1905">
                  <a:moveTo>
                    <a:pt x="0" y="0"/>
                  </a:moveTo>
                  <a:lnTo>
                    <a:pt x="6286500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319" y="2691384"/>
              <a:ext cx="94488" cy="944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2192" y="2691384"/>
              <a:ext cx="94487" cy="944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682751"/>
              <a:ext cx="8436864" cy="8869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72511"/>
            <a:ext cx="9144000" cy="2804160"/>
            <a:chOff x="0" y="2572511"/>
            <a:chExt cx="9144000" cy="2804160"/>
          </a:xfrm>
        </p:grpSpPr>
        <p:pic>
          <p:nvPicPr>
            <p:cNvPr id="3" name="object 3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6232" y="2572511"/>
              <a:ext cx="5431536" cy="28041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715511"/>
              <a:ext cx="9144000" cy="713740"/>
            </a:xfrm>
            <a:custGeom>
              <a:avLst/>
              <a:gdLst/>
              <a:ahLst/>
              <a:cxnLst/>
              <a:rect l="l" t="t" r="r" b="b"/>
              <a:pathLst>
                <a:path w="9144000" h="713739">
                  <a:moveTo>
                    <a:pt x="9144000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9144000" y="7132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3403853" y="3766261"/>
            <a:ext cx="2339340" cy="560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 spc="-25">
                <a:solidFill>
                  <a:srgbClr val="000000"/>
                </a:solidFill>
                <a:latin typeface="Calibri"/>
                <a:cs typeface="Calibri"/>
              </a:rPr>
              <a:t>CHAPTER-</a:t>
            </a:r>
            <a:r>
              <a:rPr dirty="0" sz="3500" spc="-5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810768"/>
            <a:ext cx="8436864" cy="1158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232" y="3072383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42951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429334"/>
            <a:ext cx="127127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OutLine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240" y="1958372"/>
            <a:ext cx="3900170" cy="478345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Definition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AI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Major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Areas of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Artificial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Intelligence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Techniques,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History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Production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Systems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Problem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characteristics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Intelligent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Agents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Agent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Architecture,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(E-</a:t>
            </a:r>
            <a:r>
              <a:rPr dirty="0" sz="1600">
                <a:latin typeface="Times New Roman"/>
                <a:cs typeface="Times New Roman"/>
              </a:rPr>
              <a:t>Commerce, &amp;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Medicine)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Representation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Properties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internal</a:t>
            </a:r>
            <a:r>
              <a:rPr dirty="0" sz="1600" spc="-8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representation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Future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scope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AI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Issues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search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algorithms</a:t>
            </a:r>
            <a:endParaRPr sz="1600">
              <a:latin typeface="Times New Roman"/>
              <a:cs typeface="Times New Roman"/>
            </a:endParaRPr>
          </a:p>
          <a:p>
            <a:pPr marL="351155" indent="-338455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351155" algn="l"/>
              </a:tabLst>
            </a:pPr>
            <a:r>
              <a:rPr dirty="0" sz="1600">
                <a:latin typeface="Times New Roman"/>
                <a:cs typeface="Times New Roman"/>
              </a:rPr>
              <a:t>Production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Systems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414527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8632" y="3072383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52016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700276"/>
            <a:ext cx="33159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Introduction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AI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93363" y="3090748"/>
            <a:ext cx="5276215" cy="2799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Artificial</a:t>
            </a:r>
            <a:r>
              <a:rPr dirty="0" sz="1400" spc="1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Intelligence</a:t>
            </a:r>
            <a:r>
              <a:rPr dirty="0" sz="1400" spc="1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(AI)</a:t>
            </a:r>
            <a:r>
              <a:rPr dirty="0" sz="1400" spc="1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1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1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field</a:t>
            </a:r>
            <a:r>
              <a:rPr dirty="0" sz="1400" spc="1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1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computer</a:t>
            </a:r>
            <a:r>
              <a:rPr dirty="0" sz="1400" spc="1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science</a:t>
            </a:r>
            <a:r>
              <a:rPr dirty="0" sz="1400" spc="14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that</a:t>
            </a:r>
            <a:endParaRPr sz="1400">
              <a:latin typeface="Arial MT"/>
              <a:cs typeface="Arial MT"/>
            </a:endParaRPr>
          </a:p>
          <a:p>
            <a:pPr algn="just" marL="299085" marR="5080">
              <a:lnSpc>
                <a:spcPct val="200100"/>
              </a:lnSpc>
            </a:pPr>
            <a:r>
              <a:rPr dirty="0" sz="1400">
                <a:latin typeface="Arial MT"/>
                <a:cs typeface="Arial MT"/>
              </a:rPr>
              <a:t>aims</a:t>
            </a:r>
            <a:r>
              <a:rPr dirty="0" sz="1400" spc="3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3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create</a:t>
            </a:r>
            <a:r>
              <a:rPr dirty="0" sz="1400" spc="3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intelligence</a:t>
            </a:r>
            <a:r>
              <a:rPr dirty="0" sz="1400" spc="3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machines</a:t>
            </a:r>
            <a:r>
              <a:rPr dirty="0" sz="1400" spc="4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capable</a:t>
            </a:r>
            <a:r>
              <a:rPr dirty="0" sz="1400" spc="40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38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mimicking </a:t>
            </a:r>
            <a:r>
              <a:rPr dirty="0" sz="1400">
                <a:latin typeface="Arial MT"/>
                <a:cs typeface="Arial MT"/>
              </a:rPr>
              <a:t>human</a:t>
            </a:r>
            <a:r>
              <a:rPr dirty="0" sz="1400" spc="7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cognitive</a:t>
            </a:r>
            <a:r>
              <a:rPr dirty="0" sz="1400" spc="7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functions</a:t>
            </a:r>
            <a:r>
              <a:rPr dirty="0" sz="1400" spc="8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such</a:t>
            </a:r>
            <a:r>
              <a:rPr dirty="0" sz="1400" spc="9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9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learning</a:t>
            </a:r>
            <a:r>
              <a:rPr dirty="0" sz="1400" spc="8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85">
                <a:latin typeface="Arial MT"/>
                <a:cs typeface="Arial MT"/>
              </a:rPr>
              <a:t>  </a:t>
            </a:r>
            <a:r>
              <a:rPr dirty="0" sz="1400" spc="-10">
                <a:latin typeface="Arial MT"/>
                <a:cs typeface="Arial MT"/>
              </a:rPr>
              <a:t>problem solving.</a:t>
            </a:r>
            <a:endParaRPr sz="1400">
              <a:latin typeface="Arial MT"/>
              <a:cs typeface="Arial MT"/>
            </a:endParaRPr>
          </a:p>
          <a:p>
            <a:pPr algn="just" marL="297815" marR="7620" indent="-285750">
              <a:lnSpc>
                <a:spcPct val="2001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4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systems</a:t>
            </a:r>
            <a:r>
              <a:rPr dirty="0" sz="1400" spc="484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are</a:t>
            </a:r>
            <a:r>
              <a:rPr dirty="0" sz="1400" spc="4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designed</a:t>
            </a:r>
            <a:r>
              <a:rPr dirty="0" sz="1400" spc="4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4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process</a:t>
            </a:r>
            <a:r>
              <a:rPr dirty="0" sz="1400" spc="4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information</a:t>
            </a:r>
            <a:r>
              <a:rPr dirty="0" sz="1400" spc="4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from</a:t>
            </a:r>
            <a:r>
              <a:rPr dirty="0" sz="1400" spc="49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the </a:t>
            </a:r>
            <a:r>
              <a:rPr dirty="0" sz="1400" spc="-25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environment,</a:t>
            </a:r>
            <a:r>
              <a:rPr dirty="0" sz="1400" spc="1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learn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from</a:t>
            </a:r>
            <a:r>
              <a:rPr dirty="0" sz="1400" spc="1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1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take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actions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maximize </a:t>
            </a:r>
            <a:r>
              <a:rPr dirty="0" sz="1400" spc="-1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their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goals.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7" y="2331720"/>
            <a:ext cx="3389376" cy="4258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568" y="429768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232" y="3072383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93466" y="2173048"/>
            <a:ext cx="5854065" cy="36633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latin typeface="Times New Roman"/>
                <a:cs typeface="Times New Roman"/>
              </a:rPr>
              <a:t>AI is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revolutionizing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various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industries: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5"/>
              </a:spcBef>
              <a:buSzPct val="55555"/>
              <a:buFont typeface="Symbol"/>
              <a:buChar char=""/>
              <a:tabLst>
                <a:tab pos="356870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Self-</a:t>
            </a:r>
            <a:r>
              <a:rPr dirty="0" sz="1800" b="1">
                <a:latin typeface="Times New Roman"/>
                <a:cs typeface="Times New Roman"/>
              </a:rPr>
              <a:t>driving</a:t>
            </a:r>
            <a:r>
              <a:rPr dirty="0" sz="1800" spc="1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cars:</a:t>
            </a:r>
            <a:r>
              <a:rPr dirty="0" sz="1800" spc="14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algorithms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navigate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roads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make</a:t>
            </a:r>
            <a:endParaRPr sz="18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50"/>
              </a:spcBef>
            </a:pPr>
            <a:r>
              <a:rPr dirty="0" sz="1800">
                <a:latin typeface="Times New Roman"/>
                <a:cs typeface="Times New Roman"/>
              </a:rPr>
              <a:t>decisions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 </a:t>
            </a:r>
            <a:r>
              <a:rPr dirty="0" sz="1800" spc="-10">
                <a:latin typeface="Times New Roman"/>
                <a:cs typeface="Times New Roman"/>
              </a:rPr>
              <a:t>real-time.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935"/>
              </a:spcBef>
              <a:buSzPct val="55555"/>
              <a:buFont typeface="Symbol"/>
              <a:buChar char=""/>
              <a:tabLst>
                <a:tab pos="356870" algn="l"/>
                <a:tab pos="1125220" algn="l"/>
                <a:tab pos="2253615" algn="l"/>
                <a:tab pos="2653030" algn="l"/>
                <a:tab pos="3665220" algn="l"/>
                <a:tab pos="4777740" algn="l"/>
                <a:tab pos="5665470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Fraud</a:t>
            </a: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spc="-10" b="1">
                <a:latin typeface="Times New Roman"/>
                <a:cs typeface="Times New Roman"/>
              </a:rPr>
              <a:t>detection:</a:t>
            </a: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AI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identifies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suspicious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patterns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in</a:t>
            </a:r>
            <a:endParaRPr sz="18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70"/>
              </a:spcBef>
            </a:pPr>
            <a:r>
              <a:rPr dirty="0" sz="1800">
                <a:latin typeface="Times New Roman"/>
                <a:cs typeface="Times New Roman"/>
              </a:rPr>
              <a:t>financial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transactions.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935"/>
              </a:spcBef>
              <a:buSzPct val="55555"/>
              <a:buFont typeface="Symbol"/>
              <a:buChar char=""/>
              <a:tabLst>
                <a:tab pos="356870" algn="l"/>
              </a:tabLst>
            </a:pPr>
            <a:r>
              <a:rPr dirty="0" sz="1800" b="1">
                <a:latin typeface="Times New Roman"/>
                <a:cs typeface="Times New Roman"/>
              </a:rPr>
              <a:t>Medical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diagnosis:</a:t>
            </a:r>
            <a:r>
              <a:rPr dirty="0" sz="1800" spc="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assists doctors in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analyzing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medical</a:t>
            </a:r>
            <a:endParaRPr sz="18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70"/>
              </a:spcBef>
            </a:pPr>
            <a:r>
              <a:rPr dirty="0" sz="1800">
                <a:latin typeface="Times New Roman"/>
                <a:cs typeface="Times New Roman"/>
              </a:rPr>
              <a:t>images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diagnoses.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935"/>
              </a:spcBef>
              <a:buSzPct val="55555"/>
              <a:buFont typeface="Symbol"/>
              <a:buChar char=""/>
              <a:tabLst>
                <a:tab pos="356870" algn="l"/>
                <a:tab pos="2290445" algn="l"/>
                <a:tab pos="3333115" algn="l"/>
                <a:tab pos="3790315" algn="l"/>
                <a:tab pos="5140960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Recommendation</a:t>
            </a: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spc="-10" b="1">
                <a:latin typeface="Times New Roman"/>
                <a:cs typeface="Times New Roman"/>
              </a:rPr>
              <a:t>systems:</a:t>
            </a: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AI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personalizes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product</a:t>
            </a:r>
            <a:endParaRPr sz="18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75"/>
              </a:spcBef>
            </a:pPr>
            <a:r>
              <a:rPr dirty="0" sz="1800">
                <a:latin typeface="Times New Roman"/>
                <a:cs typeface="Times New Roman"/>
              </a:rPr>
              <a:t>recommendations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behavior.</a:t>
            </a:r>
            <a:endParaRPr sz="18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6700"/>
              </a:lnSpc>
              <a:spcBef>
                <a:spcPts val="790"/>
              </a:spcBef>
              <a:buSzPct val="55555"/>
              <a:buFont typeface="Symbol"/>
              <a:buChar char=""/>
              <a:tabLst>
                <a:tab pos="356870" algn="l"/>
              </a:tabLst>
            </a:pPr>
            <a:r>
              <a:rPr dirty="0" sz="1800" b="1">
                <a:latin typeface="Times New Roman"/>
                <a:cs typeface="Times New Roman"/>
              </a:rPr>
              <a:t>Virtual</a:t>
            </a:r>
            <a:r>
              <a:rPr dirty="0" sz="1800" spc="60" b="1">
                <a:latin typeface="Times New Roman"/>
                <a:cs typeface="Times New Roman"/>
              </a:rPr>
              <a:t>  </a:t>
            </a:r>
            <a:r>
              <a:rPr dirty="0" sz="1800" b="1">
                <a:latin typeface="Times New Roman"/>
                <a:cs typeface="Times New Roman"/>
              </a:rPr>
              <a:t>assistants:</a:t>
            </a:r>
            <a:r>
              <a:rPr dirty="0" sz="1800" spc="75" b="1">
                <a:latin typeface="Times New Roman"/>
                <a:cs typeface="Times New Roman"/>
              </a:rPr>
              <a:t>  </a:t>
            </a:r>
            <a:r>
              <a:rPr dirty="0" sz="1800" spc="-25">
                <a:latin typeface="Times New Roman"/>
                <a:cs typeface="Times New Roman"/>
              </a:rPr>
              <a:t>AI-</a:t>
            </a:r>
            <a:r>
              <a:rPr dirty="0" sz="1800">
                <a:latin typeface="Times New Roman"/>
                <a:cs typeface="Times New Roman"/>
              </a:rPr>
              <a:t>powered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assistants</a:t>
            </a:r>
            <a:r>
              <a:rPr dirty="0" sz="1800" spc="6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6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Siri</a:t>
            </a:r>
            <a:r>
              <a:rPr dirty="0" sz="1800" spc="55">
                <a:latin typeface="Times New Roman"/>
                <a:cs typeface="Times New Roman"/>
              </a:rPr>
              <a:t> 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Alexa respond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voice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commands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complete</a:t>
            </a:r>
            <a:r>
              <a:rPr dirty="0" sz="1800" spc="-10">
                <a:latin typeface="Times New Roman"/>
                <a:cs typeface="Times New Roman"/>
              </a:rPr>
              <a:t> tasks.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96567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4881" y="1535684"/>
            <a:ext cx="26625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Application</a:t>
            </a:r>
            <a:r>
              <a:rPr dirty="0" sz="3000" spc="-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AI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" y="2502407"/>
            <a:ext cx="2834640" cy="31302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600" y="475487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492707"/>
            <a:ext cx="1990089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History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AI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648" y="2154935"/>
            <a:ext cx="7139708" cy="43059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088" y="350520"/>
            <a:ext cx="8439912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232" y="3072383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0964" y="2328752"/>
            <a:ext cx="8611235" cy="373126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Artificial intelligence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(AI)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field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encompassing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various approaches and</a:t>
            </a:r>
            <a:r>
              <a:rPr dirty="0" sz="1800" spc="-10">
                <a:latin typeface="Times New Roman"/>
                <a:cs typeface="Times New Roman"/>
              </a:rPr>
              <a:t> techniques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machines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exhibit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behavior.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some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major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areas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 </a:t>
            </a:r>
            <a:r>
              <a:rPr dirty="0" sz="1800" spc="-10">
                <a:latin typeface="Times New Roman"/>
                <a:cs typeface="Times New Roman"/>
              </a:rPr>
              <a:t>research: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6870" algn="l"/>
              </a:tabLst>
            </a:pPr>
            <a:r>
              <a:rPr dirty="0" sz="1800" b="1">
                <a:latin typeface="Times New Roman"/>
                <a:cs typeface="Times New Roman"/>
              </a:rPr>
              <a:t>Machine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Learning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6870" algn="l"/>
              </a:tabLst>
            </a:pPr>
            <a:r>
              <a:rPr dirty="0" sz="1800" b="1">
                <a:latin typeface="Times New Roman"/>
                <a:cs typeface="Times New Roman"/>
              </a:rPr>
              <a:t>Deep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Learning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356870" algn="l"/>
              </a:tabLst>
            </a:pPr>
            <a:r>
              <a:rPr dirty="0" sz="1800" b="1">
                <a:latin typeface="Times New Roman"/>
                <a:cs typeface="Times New Roman"/>
              </a:rPr>
              <a:t>Natural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Language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Processing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6870" algn="l"/>
              </a:tabLst>
            </a:pPr>
            <a:r>
              <a:rPr dirty="0" sz="1800" b="1">
                <a:latin typeface="Times New Roman"/>
                <a:cs typeface="Times New Roman"/>
              </a:rPr>
              <a:t>Computer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Vision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6870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Robotics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69240" y="1697228"/>
            <a:ext cx="82899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Major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Areas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Artificial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Intelligence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Techniques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463" y="509016"/>
            <a:ext cx="8439912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655" y="2779776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697228"/>
            <a:ext cx="31407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1.Machine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Learning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1" y="2398776"/>
            <a:ext cx="2855976" cy="39502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88004" y="2308402"/>
            <a:ext cx="5866130" cy="3938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261620">
              <a:lnSpc>
                <a:spcPct val="1501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Machine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subfield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 algorithms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without </a:t>
            </a:r>
            <a:r>
              <a:rPr dirty="0" sz="1400">
                <a:latin typeface="Times New Roman"/>
                <a:cs typeface="Times New Roman"/>
              </a:rPr>
              <a:t>explicit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programming.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patterns,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make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predictions,</a:t>
            </a:r>
            <a:r>
              <a:rPr dirty="0" sz="1400" spc="40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Machine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algorithms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trained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large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datasets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categorized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types: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50800" marR="6985" indent="-7620">
              <a:lnSpc>
                <a:spcPct val="150100"/>
              </a:lnSpc>
              <a:buSzPct val="91666"/>
              <a:buFont typeface="Times New Roman"/>
              <a:buChar char="•"/>
              <a:tabLst>
                <a:tab pos="105410" algn="l"/>
              </a:tabLst>
            </a:pPr>
            <a:r>
              <a:rPr dirty="0" sz="1200" b="1">
                <a:latin typeface="Times New Roman"/>
                <a:cs typeface="Times New Roman"/>
              </a:rPr>
              <a:t>	</a:t>
            </a:r>
            <a:r>
              <a:rPr dirty="0" sz="1200" b="1">
                <a:latin typeface="Times New Roman"/>
                <a:cs typeface="Times New Roman"/>
              </a:rPr>
              <a:t>Supervised</a:t>
            </a:r>
            <a:r>
              <a:rPr dirty="0" sz="1200" spc="2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Learning:</a:t>
            </a:r>
            <a:r>
              <a:rPr dirty="0" sz="1200" spc="2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Involves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labeled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where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point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a </a:t>
            </a:r>
            <a:r>
              <a:rPr dirty="0" sz="1200">
                <a:latin typeface="Times New Roman"/>
                <a:cs typeface="Times New Roman"/>
              </a:rPr>
              <a:t>corresponding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label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output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value.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algorithm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mapping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between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input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data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desired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output.</a:t>
            </a:r>
            <a:endParaRPr sz="1200">
              <a:latin typeface="Times New Roman"/>
              <a:cs typeface="Times New Roman"/>
            </a:endParaRPr>
          </a:p>
          <a:p>
            <a:pPr algn="just" marL="105410" indent="-62230">
              <a:lnSpc>
                <a:spcPct val="100000"/>
              </a:lnSpc>
              <a:spcBef>
                <a:spcPts val="720"/>
              </a:spcBef>
              <a:buSzPct val="91666"/>
              <a:buFont typeface="Times New Roman"/>
              <a:buChar char="•"/>
              <a:tabLst>
                <a:tab pos="105410" algn="l"/>
              </a:tabLst>
            </a:pPr>
            <a:r>
              <a:rPr dirty="0" sz="1200" b="1">
                <a:latin typeface="Times New Roman"/>
                <a:cs typeface="Times New Roman"/>
              </a:rPr>
              <a:t>Unsupervised</a:t>
            </a:r>
            <a:r>
              <a:rPr dirty="0" sz="1200" spc="2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Learning:</a:t>
            </a:r>
            <a:r>
              <a:rPr dirty="0" sz="1200" spc="28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Deals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unlabeled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where</a:t>
            </a:r>
            <a:r>
              <a:rPr dirty="0" sz="1200" spc="2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algorithm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identify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Times New Roman"/>
                <a:cs typeface="Times New Roman"/>
              </a:rPr>
              <a:t>patterns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relationships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own.</a:t>
            </a:r>
            <a:endParaRPr sz="1200">
              <a:latin typeface="Times New Roman"/>
              <a:cs typeface="Times New Roman"/>
            </a:endParaRPr>
          </a:p>
          <a:p>
            <a:pPr algn="just" marL="105410" indent="-62230">
              <a:lnSpc>
                <a:spcPct val="100000"/>
              </a:lnSpc>
              <a:spcBef>
                <a:spcPts val="720"/>
              </a:spcBef>
              <a:buSzPct val="91666"/>
              <a:buFont typeface="Times New Roman"/>
              <a:buChar char="•"/>
              <a:tabLst>
                <a:tab pos="105410" algn="l"/>
              </a:tabLst>
            </a:pPr>
            <a:r>
              <a:rPr dirty="0" sz="1200" b="1">
                <a:latin typeface="Times New Roman"/>
                <a:cs typeface="Times New Roman"/>
              </a:rPr>
              <a:t>Reinforcement</a:t>
            </a:r>
            <a:r>
              <a:rPr dirty="0" sz="1200" spc="1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Learning:</a:t>
            </a:r>
            <a:r>
              <a:rPr dirty="0" sz="1200" spc="114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Involves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agent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interacting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environment</a:t>
            </a:r>
            <a:r>
              <a:rPr dirty="0" sz="1200" spc="1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trial</a:t>
            </a:r>
            <a:r>
              <a:rPr dirty="0" sz="1200" spc="2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error.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agent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receives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rewards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desired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actions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penalties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for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25"/>
              </a:spcBef>
            </a:pPr>
            <a:r>
              <a:rPr dirty="0" sz="1200">
                <a:latin typeface="Times New Roman"/>
                <a:cs typeface="Times New Roman"/>
              </a:rPr>
              <a:t>undesired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actions,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enabling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optimal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behavior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6719" y="320040"/>
            <a:ext cx="8439912" cy="697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8160" y="2020475"/>
            <a:ext cx="5822315" cy="3684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01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Deep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subset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uses </a:t>
            </a:r>
            <a:r>
              <a:rPr dirty="0" sz="2000">
                <a:latin typeface="Times New Roman"/>
                <a:cs typeface="Times New Roman"/>
              </a:rPr>
              <a:t>artificial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neural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networks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inspired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function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8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human</a:t>
            </a:r>
            <a:r>
              <a:rPr dirty="0" sz="2000" spc="8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brain.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8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artificial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neural </a:t>
            </a:r>
            <a:r>
              <a:rPr dirty="0" sz="2000">
                <a:latin typeface="Times New Roman"/>
                <a:cs typeface="Times New Roman"/>
              </a:rPr>
              <a:t>networks</a:t>
            </a:r>
            <a:r>
              <a:rPr dirty="0" sz="2000" spc="204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consist</a:t>
            </a:r>
            <a:r>
              <a:rPr dirty="0" sz="2000" spc="204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9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interconnected</a:t>
            </a:r>
            <a:r>
              <a:rPr dirty="0" sz="2000" spc="22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nodes</a:t>
            </a:r>
            <a:r>
              <a:rPr dirty="0" sz="2000" spc="20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(artificial </a:t>
            </a:r>
            <a:r>
              <a:rPr dirty="0" sz="2000">
                <a:latin typeface="Times New Roman"/>
                <a:cs typeface="Times New Roman"/>
              </a:rPr>
              <a:t>neurons)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arranged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layers.</a:t>
            </a:r>
            <a:endParaRPr sz="2000">
              <a:latin typeface="Times New Roman"/>
              <a:cs typeface="Times New Roman"/>
            </a:endParaRPr>
          </a:p>
          <a:p>
            <a:pPr algn="just" marL="12700" marR="6350">
              <a:lnSpc>
                <a:spcPct val="150100"/>
              </a:lnSpc>
            </a:pPr>
            <a:r>
              <a:rPr dirty="0" sz="2000">
                <a:latin typeface="Times New Roman"/>
                <a:cs typeface="Times New Roman"/>
              </a:rPr>
              <a:t>Deep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patterns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from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amounts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data,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achieving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levels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accuracy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like: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53896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4998" y="1503121"/>
            <a:ext cx="259651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2.Deep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Learning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" y="2444495"/>
            <a:ext cx="2807208" cy="3432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847" y="329184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98" y="2472582"/>
            <a:ext cx="8799830" cy="199199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55"/>
              </a:spcBef>
              <a:buSzPct val="133333"/>
              <a:buFont typeface="Wingdings"/>
              <a:buChar char=""/>
              <a:tabLst>
                <a:tab pos="298450" algn="l"/>
              </a:tabLst>
            </a:pPr>
            <a:r>
              <a:rPr dirty="0" sz="1800" b="1">
                <a:latin typeface="Times New Roman"/>
                <a:cs typeface="Times New Roman"/>
              </a:rPr>
              <a:t>Image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Recognition:</a:t>
            </a:r>
            <a:r>
              <a:rPr dirty="0" sz="1800" spc="1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Recognizing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objects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scenes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accuracy.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SzPct val="133333"/>
              <a:buFont typeface="Wingdings"/>
              <a:buChar char=""/>
              <a:tabLst>
                <a:tab pos="298450" algn="l"/>
              </a:tabLst>
            </a:pPr>
            <a:r>
              <a:rPr dirty="0" sz="1800" b="1">
                <a:latin typeface="Times New Roman"/>
                <a:cs typeface="Times New Roman"/>
              </a:rPr>
              <a:t>Speech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Recognition: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Converting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spoken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language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text.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5"/>
              </a:spcBef>
              <a:buSzPct val="133333"/>
              <a:buFont typeface="Wingdings"/>
              <a:buChar char=""/>
              <a:tabLst>
                <a:tab pos="298450" algn="l"/>
              </a:tabLst>
            </a:pPr>
            <a:r>
              <a:rPr dirty="0" sz="1800" b="1">
                <a:latin typeface="Times New Roman"/>
                <a:cs typeface="Times New Roman"/>
              </a:rPr>
              <a:t>Machine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Translation:</a:t>
            </a:r>
            <a:r>
              <a:rPr dirty="0" sz="1800" spc="2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Translating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text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language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another.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SzPct val="133333"/>
              <a:buFont typeface="Wingdings"/>
              <a:buChar char=""/>
              <a:tabLst>
                <a:tab pos="298450" algn="l"/>
              </a:tabLst>
            </a:pPr>
            <a:r>
              <a:rPr dirty="0" sz="1800" b="1">
                <a:latin typeface="Times New Roman"/>
                <a:cs typeface="Times New Roman"/>
              </a:rPr>
              <a:t>Natural</a:t>
            </a:r>
            <a:r>
              <a:rPr dirty="0" sz="1800" spc="229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Language</a:t>
            </a:r>
            <a:r>
              <a:rPr dirty="0" sz="1800" spc="229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Processing:</a:t>
            </a:r>
            <a:r>
              <a:rPr dirty="0" sz="1800" spc="23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Enabling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machines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respond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natural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language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effectively.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53896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4998" y="1503121"/>
            <a:ext cx="124142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Cont…..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259079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5615" y="2289048"/>
            <a:ext cx="4657344" cy="28011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77844" y="2206022"/>
            <a:ext cx="5358130" cy="39960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Natural</a:t>
            </a:r>
            <a:r>
              <a:rPr dirty="0" sz="1600" spc="19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Language</a:t>
            </a:r>
            <a:r>
              <a:rPr dirty="0" sz="1600" spc="19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Processing</a:t>
            </a:r>
            <a:r>
              <a:rPr dirty="0" sz="1600" spc="19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(NLP)</a:t>
            </a:r>
            <a:r>
              <a:rPr dirty="0" sz="1600" spc="19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19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204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subfield</a:t>
            </a:r>
            <a:r>
              <a:rPr dirty="0" sz="1600" spc="204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200">
                <a:latin typeface="Times New Roman"/>
                <a:cs typeface="Times New Roman"/>
              </a:rPr>
              <a:t>  </a:t>
            </a:r>
            <a:r>
              <a:rPr dirty="0" sz="1600" spc="-25">
                <a:latin typeface="Times New Roman"/>
                <a:cs typeface="Times New Roman"/>
              </a:rPr>
              <a:t>AI </a:t>
            </a:r>
            <a:r>
              <a:rPr dirty="0" sz="1600">
                <a:latin typeface="Times New Roman"/>
                <a:cs typeface="Times New Roman"/>
              </a:rPr>
              <a:t>concerned</a:t>
            </a:r>
            <a:r>
              <a:rPr dirty="0" sz="1600" spc="2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interaction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between</a:t>
            </a:r>
            <a:r>
              <a:rPr dirty="0" sz="1600" spc="2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computers</a:t>
            </a:r>
            <a:r>
              <a:rPr dirty="0" sz="1600" spc="2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human </a:t>
            </a:r>
            <a:r>
              <a:rPr dirty="0" sz="1600">
                <a:latin typeface="Times New Roman"/>
                <a:cs typeface="Times New Roman"/>
              </a:rPr>
              <a:t>language.</a:t>
            </a:r>
            <a:r>
              <a:rPr dirty="0" sz="1600" spc="16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NLP</a:t>
            </a:r>
            <a:r>
              <a:rPr dirty="0" sz="1600" spc="16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techniques</a:t>
            </a:r>
            <a:r>
              <a:rPr dirty="0" sz="1600" spc="16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enable</a:t>
            </a:r>
            <a:r>
              <a:rPr dirty="0" sz="1600" spc="17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machines</a:t>
            </a:r>
            <a:r>
              <a:rPr dirty="0" sz="1600" spc="16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45">
                <a:latin typeface="Times New Roman"/>
                <a:cs typeface="Times New Roman"/>
              </a:rPr>
              <a:t>  </a:t>
            </a:r>
            <a:r>
              <a:rPr dirty="0" sz="1600" spc="-10">
                <a:latin typeface="Times New Roman"/>
                <a:cs typeface="Times New Roman"/>
              </a:rPr>
              <a:t>understand, </a:t>
            </a:r>
            <a:r>
              <a:rPr dirty="0" sz="1600">
                <a:latin typeface="Times New Roman"/>
                <a:cs typeface="Times New Roman"/>
              </a:rPr>
              <a:t>generate,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manipulate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human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language.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Some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key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NLP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tasks include:</a:t>
            </a:r>
            <a:endParaRPr sz="1600">
              <a:latin typeface="Times New Roman"/>
              <a:cs typeface="Times New Roman"/>
            </a:endParaRPr>
          </a:p>
          <a:p>
            <a:pPr marL="12700" marR="956944">
              <a:lnSpc>
                <a:spcPct val="100000"/>
              </a:lnSpc>
              <a:spcBef>
                <a:spcPts val="1490"/>
              </a:spcBef>
            </a:pPr>
            <a:r>
              <a:rPr dirty="0" sz="1600" b="1">
                <a:latin typeface="Times New Roman"/>
                <a:cs typeface="Times New Roman"/>
              </a:rPr>
              <a:t>Machine</a:t>
            </a:r>
            <a:r>
              <a:rPr dirty="0" sz="1600" spc="-9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Translation:</a:t>
            </a:r>
            <a:r>
              <a:rPr dirty="0" sz="1600" spc="-10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Automatically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translating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text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language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another.</a:t>
            </a:r>
            <a:endParaRPr sz="1600">
              <a:latin typeface="Times New Roman"/>
              <a:cs typeface="Times New Roman"/>
            </a:endParaRPr>
          </a:p>
          <a:p>
            <a:pPr marL="12700" marR="688340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Text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Summarization: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Generating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concise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summary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of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lengthy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Piece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20">
                <a:latin typeface="Times New Roman"/>
                <a:cs typeface="Times New Roman"/>
              </a:rPr>
              <a:t> text.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Sentiment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Analysis:</a:t>
            </a:r>
            <a:r>
              <a:rPr dirty="0" sz="1600" spc="-9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Identifying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emotional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tone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  <a:p>
            <a:pPr marL="12700" marR="890269" indent="51435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piece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text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(positive,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negative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neutral).</a:t>
            </a:r>
            <a:r>
              <a:rPr dirty="0" sz="1600" spc="500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Chatbots: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Creating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conversational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agents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interact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humans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natural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way</a:t>
            </a:r>
            <a:r>
              <a:rPr dirty="0" sz="1400" spc="-2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99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739" y="1517980"/>
            <a:ext cx="588073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3.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Natural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Language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Processing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(NLP)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2221992"/>
            <a:ext cx="3154679" cy="43586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415" y="249936"/>
            <a:ext cx="8439912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655" y="2590800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711909"/>
            <a:ext cx="257556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dirty="0" spc="-60"/>
              <a:t> </a:t>
            </a:r>
            <a:r>
              <a:rPr dirty="0"/>
              <a:t>Computer</a:t>
            </a:r>
            <a:r>
              <a:rPr dirty="0" spc="-30"/>
              <a:t> </a:t>
            </a:r>
            <a:r>
              <a:rPr dirty="0" spc="-10"/>
              <a:t>Vision</a:t>
            </a:r>
          </a:p>
        </p:txBody>
      </p:sp>
      <p:sp>
        <p:nvSpPr>
          <p:cNvPr id="5" name="object 5"/>
          <p:cNvSpPr/>
          <p:nvPr/>
        </p:nvSpPr>
        <p:spPr>
          <a:xfrm>
            <a:off x="6114288" y="6196583"/>
            <a:ext cx="2581910" cy="216535"/>
          </a:xfrm>
          <a:custGeom>
            <a:avLst/>
            <a:gdLst/>
            <a:ahLst/>
            <a:cxnLst/>
            <a:rect l="l" t="t" r="r" b="b"/>
            <a:pathLst>
              <a:path w="2581909" h="216535">
                <a:moveTo>
                  <a:pt x="45720" y="0"/>
                </a:moveTo>
                <a:lnTo>
                  <a:pt x="0" y="0"/>
                </a:lnTo>
                <a:lnTo>
                  <a:pt x="0" y="213360"/>
                </a:lnTo>
                <a:lnTo>
                  <a:pt x="45720" y="213360"/>
                </a:lnTo>
                <a:lnTo>
                  <a:pt x="45720" y="0"/>
                </a:lnTo>
                <a:close/>
              </a:path>
              <a:path w="2581909" h="216535">
                <a:moveTo>
                  <a:pt x="2581656" y="0"/>
                </a:moveTo>
                <a:lnTo>
                  <a:pt x="79248" y="0"/>
                </a:lnTo>
                <a:lnTo>
                  <a:pt x="79248" y="216408"/>
                </a:lnTo>
                <a:lnTo>
                  <a:pt x="2581656" y="216408"/>
                </a:lnTo>
                <a:lnTo>
                  <a:pt x="258165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" y="2389632"/>
            <a:ext cx="2974848" cy="41818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73933" y="2579371"/>
            <a:ext cx="5466080" cy="2588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marR="9525" indent="-287020">
              <a:lnSpc>
                <a:spcPct val="1501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400">
                <a:latin typeface="Times New Roman"/>
                <a:cs typeface="Times New Roman"/>
              </a:rPr>
              <a:t>Computer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vision 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field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deals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extraction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of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digital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images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videos.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vision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algorithms </a:t>
            </a:r>
            <a:r>
              <a:rPr dirty="0" sz="1400" spc="-20">
                <a:latin typeface="Times New Roman"/>
                <a:cs typeface="Times New Roman"/>
              </a:rPr>
              <a:t>can: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b="1">
                <a:latin typeface="Times New Roman"/>
                <a:cs typeface="Times New Roman"/>
              </a:rPr>
              <a:t>Object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detection:</a:t>
            </a:r>
            <a:r>
              <a:rPr dirty="0" sz="140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images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videos.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400" b="1">
                <a:latin typeface="Times New Roman"/>
                <a:cs typeface="Times New Roman"/>
              </a:rPr>
              <a:t>Image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classification: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Categorizing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content.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400" b="1">
                <a:latin typeface="Times New Roman"/>
                <a:cs typeface="Times New Roman"/>
              </a:rPr>
              <a:t>Facial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recognition:</a:t>
            </a:r>
            <a:r>
              <a:rPr dirty="0" sz="1400" spc="3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people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images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videos.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400" b="1">
                <a:latin typeface="Times New Roman"/>
                <a:cs typeface="Times New Roman"/>
              </a:rPr>
              <a:t>Medical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image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analysis: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Assisting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doctors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analyzing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medical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images</a:t>
            </a:r>
            <a:endParaRPr sz="1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diagnosis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treatment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planning.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023" y="301752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296" y="2779776"/>
            <a:ext cx="4005072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700276"/>
            <a:ext cx="17703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5.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Robotics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43" y="2453639"/>
            <a:ext cx="3453384" cy="40507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04335" y="2428621"/>
            <a:ext cx="5049520" cy="414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7815" marR="5715" indent="-285750">
              <a:lnSpc>
                <a:spcPct val="1501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Robotics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field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concerned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with </a:t>
            </a:r>
            <a:r>
              <a:rPr dirty="0" sz="1800" spc="-2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design,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construction,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operation,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application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0">
                <a:latin typeface="Times New Roman"/>
                <a:cs typeface="Times New Roman"/>
              </a:rPr>
              <a:t> robots.</a:t>
            </a:r>
            <a:endParaRPr sz="1800">
              <a:latin typeface="Times New Roman"/>
              <a:cs typeface="Times New Roman"/>
            </a:endParaRPr>
          </a:p>
          <a:p>
            <a:pPr algn="just" marL="297815" marR="5715" indent="-285750">
              <a:lnSpc>
                <a:spcPct val="1501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2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plays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crucial</a:t>
            </a:r>
            <a:r>
              <a:rPr dirty="0" sz="1800" spc="3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role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4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robotics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enabling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robots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to: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Navigate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their</a:t>
            </a:r>
            <a:r>
              <a:rPr dirty="0" sz="1800" spc="2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environment: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Perceiving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their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surroundings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planning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their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movements.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Interact</a:t>
            </a:r>
            <a:r>
              <a:rPr dirty="0" sz="1800" spc="3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objects:</a:t>
            </a:r>
            <a:r>
              <a:rPr dirty="0" sz="1800" spc="3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Grasping</a:t>
            </a:r>
            <a:r>
              <a:rPr dirty="0" sz="1800" spc="3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manipulating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objects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precise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way.</a:t>
            </a:r>
            <a:endParaRPr sz="1800">
              <a:latin typeface="Times New Roman"/>
              <a:cs typeface="Times New Roman"/>
            </a:endParaRPr>
          </a:p>
          <a:p>
            <a:pPr algn="just" marL="297815" marR="5080" indent="-285750">
              <a:lnSpc>
                <a:spcPct val="1501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Learn</a:t>
            </a:r>
            <a:r>
              <a:rPr dirty="0" sz="1800" spc="11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9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adapt:</a:t>
            </a:r>
            <a:r>
              <a:rPr dirty="0" sz="1800" spc="9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Continuously</a:t>
            </a:r>
            <a:r>
              <a:rPr dirty="0" sz="1800" spc="8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improving</a:t>
            </a:r>
            <a:r>
              <a:rPr dirty="0" sz="1800" spc="100">
                <a:latin typeface="Times New Roman"/>
                <a:cs typeface="Times New Roman"/>
              </a:rPr>
              <a:t>  </a:t>
            </a:r>
            <a:r>
              <a:rPr dirty="0" sz="1800" spc="-10">
                <a:latin typeface="Times New Roman"/>
                <a:cs typeface="Times New Roman"/>
              </a:rPr>
              <a:t>their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performance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new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experiences.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568" y="353568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296" y="2779776"/>
            <a:ext cx="4005072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389888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2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Intelligent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Agents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AI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498" y="2094209"/>
            <a:ext cx="8472805" cy="4357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5080" indent="-285750">
              <a:lnSpc>
                <a:spcPct val="150100"/>
              </a:lnSpc>
              <a:spcBef>
                <a:spcPts val="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Arial"/>
                <a:cs typeface="Arial"/>
              </a:rPr>
              <a:t>Intelligent</a:t>
            </a:r>
            <a:r>
              <a:rPr dirty="0" sz="1800" spc="39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agents</a:t>
            </a:r>
            <a:r>
              <a:rPr dirty="0" sz="1800" spc="40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3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autonomous</a:t>
            </a:r>
            <a:r>
              <a:rPr dirty="0" sz="1800" spc="40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entities</a:t>
            </a:r>
            <a:r>
              <a:rPr dirty="0" sz="1800" spc="4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which</a:t>
            </a:r>
            <a:r>
              <a:rPr dirty="0" sz="1800" spc="3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observe</a:t>
            </a:r>
            <a:r>
              <a:rPr dirty="0" sz="1800" spc="4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their</a:t>
            </a:r>
            <a:r>
              <a:rPr dirty="0" sz="1800" spc="39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environment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through</a:t>
            </a:r>
            <a:r>
              <a:rPr dirty="0" sz="1800" spc="2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sensors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upon</a:t>
            </a:r>
            <a:r>
              <a:rPr dirty="0" sz="1800" spc="2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3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environment</a:t>
            </a:r>
            <a:r>
              <a:rPr dirty="0" sz="1800" spc="3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3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actuators</a:t>
            </a:r>
            <a:r>
              <a:rPr dirty="0" sz="1800" spc="3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(effectors)</a:t>
            </a:r>
            <a:r>
              <a:rPr dirty="0" sz="1800" spc="30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to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achieve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specific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goals.</a:t>
            </a:r>
            <a:endParaRPr sz="1800">
              <a:latin typeface="Arial MT"/>
              <a:cs typeface="Arial MT"/>
            </a:endParaRPr>
          </a:p>
          <a:p>
            <a:pPr algn="just"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1800">
                <a:latin typeface="Arial MT"/>
                <a:cs typeface="Arial MT"/>
              </a:rPr>
              <a:t>They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simple,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like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sensor,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complex,</a:t>
            </a:r>
            <a:r>
              <a:rPr dirty="0" sz="1800" spc="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8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self-</a:t>
            </a:r>
            <a:r>
              <a:rPr dirty="0" sz="1800">
                <a:latin typeface="Arial MT"/>
                <a:cs typeface="Arial MT"/>
              </a:rPr>
              <a:t>driving</a:t>
            </a:r>
            <a:r>
              <a:rPr dirty="0" sz="1800" spc="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car.</a:t>
            </a:r>
            <a:r>
              <a:rPr dirty="0" sz="1800" spc="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9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fundamental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Arial MT"/>
                <a:cs typeface="Arial MT"/>
              </a:rPr>
              <a:t>aspects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include:</a:t>
            </a:r>
            <a:endParaRPr sz="1800">
              <a:latin typeface="Arial MT"/>
              <a:cs typeface="Arial MT"/>
            </a:endParaRPr>
          </a:p>
          <a:p>
            <a:pPr marL="282575">
              <a:lnSpc>
                <a:spcPct val="100000"/>
              </a:lnSpc>
              <a:spcBef>
                <a:spcPts val="1100"/>
              </a:spcBef>
            </a:pPr>
            <a:r>
              <a:rPr dirty="0" sz="2000" b="1">
                <a:latin typeface="Times New Roman"/>
                <a:cs typeface="Times New Roman"/>
              </a:rPr>
              <a:t>Autonomy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ability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operate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 human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intermediation.</a:t>
            </a:r>
            <a:endParaRPr sz="20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Perception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collect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environment.</a:t>
            </a:r>
            <a:endParaRPr sz="20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Times New Roman"/>
                <a:cs typeface="Times New Roman"/>
              </a:rPr>
              <a:t>Influence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Goal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directed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behavior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Taking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aimed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achieving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objectives.</a:t>
            </a:r>
            <a:endParaRPr sz="20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Learning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Adjusting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experiences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544" y="390143"/>
            <a:ext cx="8439912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296" y="2779776"/>
            <a:ext cx="4005072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389888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2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Types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Agents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AI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444" y="2406523"/>
            <a:ext cx="8688705" cy="33788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Simple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Reflex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Agents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current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percept,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ignoring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percept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history.</a:t>
            </a:r>
            <a:endParaRPr sz="2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vacuum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cleaner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cleans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direct.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Model-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20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Reflex</a:t>
            </a:r>
            <a:r>
              <a:rPr dirty="0" sz="2000" spc="2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Agents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Maintain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internal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track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aspects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world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immediately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understandable.</a:t>
            </a:r>
            <a:endParaRPr sz="2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self-</a:t>
            </a:r>
            <a:r>
              <a:rPr dirty="0" sz="2000">
                <a:latin typeface="Times New Roman"/>
                <a:cs typeface="Times New Roman"/>
              </a:rPr>
              <a:t>driving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keeps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track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past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Goal</a:t>
            </a:r>
            <a:r>
              <a:rPr dirty="0" sz="2000" spc="2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2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Agents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achieve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goals,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taking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account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future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states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resulting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actions.</a:t>
            </a:r>
            <a:endParaRPr sz="2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Example: A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robot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navigating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maze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reach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exit.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341375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296" y="2779776"/>
            <a:ext cx="4005072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389888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2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Cont……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400" y="2275062"/>
            <a:ext cx="8623300" cy="2770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Utility</a:t>
            </a:r>
            <a:r>
              <a:rPr dirty="0" sz="2000" spc="2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229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agents:</a:t>
            </a:r>
            <a:r>
              <a:rPr dirty="0" sz="2000" spc="2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choose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actions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utility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function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maximize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expected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utility.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stock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trading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sells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maximize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profit.</a:t>
            </a:r>
            <a:endParaRPr sz="2000">
              <a:latin typeface="Times New Roman"/>
              <a:cs typeface="Times New Roman"/>
            </a:endParaRPr>
          </a:p>
          <a:p>
            <a:pPr marL="12700" marR="5715">
              <a:lnSpc>
                <a:spcPct val="150000"/>
              </a:lnSpc>
              <a:spcBef>
                <a:spcPts val="5"/>
              </a:spcBef>
            </a:pPr>
            <a:r>
              <a:rPr dirty="0" sz="2000" b="1">
                <a:latin typeface="Times New Roman"/>
                <a:cs typeface="Times New Roman"/>
              </a:rPr>
              <a:t>Learning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Agents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performance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experience. </a:t>
            </a: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recommendation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suggestions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learns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user </a:t>
            </a:r>
            <a:r>
              <a:rPr dirty="0" sz="2000" spc="-10">
                <a:latin typeface="Times New Roman"/>
                <a:cs typeface="Times New Roman"/>
              </a:rPr>
              <a:t>preferences.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224" y="298704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296" y="2779776"/>
            <a:ext cx="4005072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389888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739" y="1393393"/>
            <a:ext cx="389699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Implementation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Aspects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998" y="1849148"/>
            <a:ext cx="8686800" cy="47244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ct val="147800"/>
              </a:lnSpc>
              <a:spcBef>
                <a:spcPts val="315"/>
              </a:spcBef>
            </a:pPr>
            <a:r>
              <a:rPr dirty="0" sz="2400">
                <a:latin typeface="Times New Roman"/>
                <a:cs typeface="Times New Roman"/>
              </a:rPr>
              <a:t>Implementing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intelligent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agents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involves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several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aspects: </a:t>
            </a:r>
            <a:r>
              <a:rPr dirty="0" sz="2000" b="1">
                <a:latin typeface="Times New Roman"/>
                <a:cs typeface="Times New Roman"/>
              </a:rPr>
              <a:t>Perception:</a:t>
            </a:r>
            <a:r>
              <a:rPr dirty="0" sz="2000" spc="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Utilizing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gather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interpret </a:t>
            </a:r>
            <a:r>
              <a:rPr dirty="0" sz="2000">
                <a:latin typeface="Times New Roman"/>
                <a:cs typeface="Times New Roman"/>
              </a:rPr>
              <a:t>environmental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Times New Roman"/>
                <a:cs typeface="Times New Roman"/>
              </a:rPr>
              <a:t>Action</a:t>
            </a:r>
            <a:r>
              <a:rPr dirty="0" sz="2000" spc="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Selection:</a:t>
            </a:r>
            <a:r>
              <a:rPr dirty="0" sz="2000" spc="9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decision-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choose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actions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achieve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agent’s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goals.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Learning:</a:t>
            </a:r>
            <a:r>
              <a:rPr dirty="0" sz="2000" spc="3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Employing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techniques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performance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over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dirty="0" sz="2000" b="1">
                <a:latin typeface="Times New Roman"/>
                <a:cs typeface="Times New Roman"/>
              </a:rPr>
              <a:t>Communication:</a:t>
            </a:r>
            <a:r>
              <a:rPr dirty="0" sz="2000" spc="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Enabling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humans. </a:t>
            </a:r>
            <a:r>
              <a:rPr dirty="0" sz="2000" b="1">
                <a:latin typeface="Times New Roman"/>
                <a:cs typeface="Times New Roman"/>
              </a:rPr>
              <a:t>Ethics</a:t>
            </a:r>
            <a:r>
              <a:rPr dirty="0" sz="2000" spc="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Safety:</a:t>
            </a:r>
            <a:r>
              <a:rPr dirty="0" sz="2000" spc="1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Ensuring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operate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within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ethical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guidelines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prioritize safety.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511" y="426719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296" y="2779776"/>
            <a:ext cx="4005072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389888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2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Applications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Intelligent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Agents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444" y="2235154"/>
            <a:ext cx="8686165" cy="3868420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  <a:tabLst>
                <a:tab pos="1451610" algn="l"/>
                <a:tab pos="3235325" algn="l"/>
                <a:tab pos="4201795" algn="l"/>
                <a:tab pos="4643755" algn="l"/>
                <a:tab pos="6696075" algn="l"/>
                <a:tab pos="8229600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Robotics: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Autonomous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robots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in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manufacturing,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healthcare,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>
                <a:latin typeface="Times New Roman"/>
                <a:cs typeface="Times New Roman"/>
              </a:rPr>
              <a:t>exploration.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400" b="1">
                <a:latin typeface="Times New Roman"/>
                <a:cs typeface="Times New Roman"/>
              </a:rPr>
              <a:t>Finance: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Trading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bots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execute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transactions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financial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markets.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Times New Roman"/>
                <a:cs typeface="Times New Roman"/>
              </a:rPr>
              <a:t>Healthcare: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Diagnostic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tools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personalized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treatment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4320"/>
              </a:lnSpc>
              <a:spcBef>
                <a:spcPts val="185"/>
              </a:spcBef>
              <a:tabLst>
                <a:tab pos="1118870" algn="l"/>
                <a:tab pos="2414905" algn="l"/>
                <a:tab pos="3731895" algn="l"/>
                <a:tab pos="4485005" algn="l"/>
                <a:tab pos="5897245" algn="l"/>
                <a:tab pos="6631940" algn="l"/>
                <a:tab pos="7994650" algn="l"/>
              </a:tabLst>
            </a:pPr>
            <a:r>
              <a:rPr dirty="0" sz="2400" b="1">
                <a:latin typeface="Times New Roman"/>
                <a:cs typeface="Times New Roman"/>
              </a:rPr>
              <a:t>Gaming: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Non-</a:t>
            </a:r>
            <a:r>
              <a:rPr dirty="0" sz="2400">
                <a:latin typeface="Times New Roman"/>
                <a:cs typeface="Times New Roman"/>
              </a:rPr>
              <a:t>player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characters (NPCs)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realistic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behaviors. </a:t>
            </a:r>
            <a:r>
              <a:rPr dirty="0" sz="2400" spc="-10" b="1">
                <a:latin typeface="Times New Roman"/>
                <a:cs typeface="Times New Roman"/>
              </a:rPr>
              <a:t>Smart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Homes: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that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automate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optimize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home </a:t>
            </a:r>
            <a:r>
              <a:rPr dirty="0" sz="2400" spc="-10">
                <a:latin typeface="Times New Roman"/>
                <a:cs typeface="Times New Roman"/>
              </a:rPr>
              <a:t>environments.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329184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1320" y="3127248"/>
            <a:ext cx="5428487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47" y="1572767"/>
            <a:ext cx="9141460" cy="643255"/>
          </a:xfrm>
          <a:custGeom>
            <a:avLst/>
            <a:gdLst/>
            <a:ahLst/>
            <a:cxnLst/>
            <a:rect l="l" t="t" r="r" b="b"/>
            <a:pathLst>
              <a:path w="9141460" h="643255">
                <a:moveTo>
                  <a:pt x="9140952" y="0"/>
                </a:moveTo>
                <a:lnTo>
                  <a:pt x="0" y="0"/>
                </a:lnTo>
                <a:lnTo>
                  <a:pt x="0" y="643127"/>
                </a:lnTo>
                <a:lnTo>
                  <a:pt x="9140952" y="643127"/>
                </a:lnTo>
                <a:lnTo>
                  <a:pt x="9140952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4084" y="1601215"/>
            <a:ext cx="17843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AI</a:t>
            </a:r>
            <a:r>
              <a:rPr dirty="0" sz="3000" spc="-10">
                <a:latin typeface="Calibri"/>
                <a:cs typeface="Calibri"/>
              </a:rPr>
              <a:t> Problem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408" y="3127248"/>
            <a:ext cx="2380488" cy="34899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39" y="2351658"/>
            <a:ext cx="8773160" cy="2855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46609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broadly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categorized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 main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areas: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technical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challenges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ethical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considerations.</a:t>
            </a:r>
            <a:endParaRPr sz="2000">
              <a:latin typeface="Times New Roman"/>
              <a:cs typeface="Times New Roman"/>
            </a:endParaRPr>
          </a:p>
          <a:p>
            <a:pPr algn="just" marL="2954020" marR="5080">
              <a:lnSpc>
                <a:spcPct val="150100"/>
              </a:lnSpc>
              <a:spcBef>
                <a:spcPts val="1280"/>
              </a:spcBef>
            </a:pPr>
            <a:r>
              <a:rPr dirty="0" sz="1800" b="1">
                <a:latin typeface="Times New Roman"/>
                <a:cs typeface="Times New Roman"/>
              </a:rPr>
              <a:t>1.Lack</a:t>
            </a:r>
            <a:r>
              <a:rPr dirty="0" sz="1800" spc="40" b="1">
                <a:latin typeface="Times New Roman"/>
                <a:cs typeface="Times New Roman"/>
              </a:rPr>
              <a:t> 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60" b="1">
                <a:latin typeface="Times New Roman"/>
                <a:cs typeface="Times New Roman"/>
              </a:rPr>
              <a:t>  </a:t>
            </a:r>
            <a:r>
              <a:rPr dirty="0" sz="1800" b="1">
                <a:latin typeface="Times New Roman"/>
                <a:cs typeface="Times New Roman"/>
              </a:rPr>
              <a:t>transparency</a:t>
            </a:r>
            <a:r>
              <a:rPr dirty="0" sz="1800" spc="70" b="1">
                <a:latin typeface="Times New Roman"/>
                <a:cs typeface="Times New Roman"/>
              </a:rPr>
              <a:t> 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65" b="1">
                <a:latin typeface="Times New Roman"/>
                <a:cs typeface="Times New Roman"/>
              </a:rPr>
              <a:t>  </a:t>
            </a:r>
            <a:r>
              <a:rPr dirty="0" sz="1800" b="1">
                <a:latin typeface="Times New Roman"/>
                <a:cs typeface="Times New Roman"/>
              </a:rPr>
              <a:t>explainability:</a:t>
            </a:r>
            <a:r>
              <a:rPr dirty="0" sz="1800" spc="60" b="1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Complex</a:t>
            </a:r>
            <a:r>
              <a:rPr dirty="0" sz="1800" spc="50">
                <a:latin typeface="Times New Roman"/>
                <a:cs typeface="Times New Roman"/>
              </a:rPr>
              <a:t>  </a:t>
            </a:r>
            <a:r>
              <a:rPr dirty="0" sz="1800" spc="-25">
                <a:latin typeface="Times New Roman"/>
                <a:cs typeface="Times New Roman"/>
              </a:rPr>
              <a:t>AI </a:t>
            </a:r>
            <a:r>
              <a:rPr dirty="0" sz="1800">
                <a:latin typeface="Times New Roman"/>
                <a:cs typeface="Times New Roman"/>
              </a:rPr>
              <a:t>systems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difficult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interpret,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making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it </a:t>
            </a:r>
            <a:r>
              <a:rPr dirty="0" sz="1800">
                <a:latin typeface="Times New Roman"/>
                <a:cs typeface="Times New Roman"/>
              </a:rPr>
              <a:t>challenging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determine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decisions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being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made.This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areas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where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accountability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important, </a:t>
            </a:r>
            <a:r>
              <a:rPr dirty="0" sz="1800">
                <a:latin typeface="Times New Roman"/>
                <a:cs typeface="Times New Roman"/>
              </a:rPr>
              <a:t>such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healthcare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criminal </a:t>
            </a:r>
            <a:r>
              <a:rPr dirty="0" sz="1800" spc="-10">
                <a:latin typeface="Times New Roman"/>
                <a:cs typeface="Times New Roman"/>
              </a:rPr>
              <a:t>justice.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3088" y="292608"/>
            <a:ext cx="8439912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832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700276"/>
            <a:ext cx="13093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Cont……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0409" y="2535811"/>
            <a:ext cx="5570220" cy="1856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501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2.Data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quality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bias: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good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they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trained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on.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biased,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biased.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discrimination against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certain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groups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people.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 descr="Image of Data quality and bias in AI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56" y="2502407"/>
            <a:ext cx="2715768" cy="3886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568" y="338327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832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700276"/>
            <a:ext cx="13093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Cont……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0409" y="2535811"/>
            <a:ext cx="5883910" cy="1856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3.Safety</a:t>
            </a:r>
            <a:r>
              <a:rPr dirty="0" sz="2000" spc="3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3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security:</a:t>
            </a:r>
            <a:r>
              <a:rPr dirty="0" sz="2000" spc="36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vulnerable </a:t>
            </a:r>
            <a:r>
              <a:rPr dirty="0" sz="2000">
                <a:latin typeface="Times New Roman"/>
                <a:cs typeface="Times New Roman"/>
              </a:rPr>
              <a:t>hacking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threats.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Malicious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actors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cou </a:t>
            </a:r>
            <a:r>
              <a:rPr dirty="0" sz="2000">
                <a:latin typeface="Times New Roman"/>
                <a:cs typeface="Times New Roman"/>
              </a:rPr>
              <a:t>potentially</a:t>
            </a:r>
            <a:r>
              <a:rPr dirty="0" sz="2000" spc="3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4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cause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harm,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launchi </a:t>
            </a:r>
            <a:r>
              <a:rPr dirty="0" sz="2000">
                <a:latin typeface="Times New Roman"/>
                <a:cs typeface="Times New Roman"/>
              </a:rPr>
              <a:t>cyberattacks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spreading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misinformation.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 descr="Image of Safety and security threats in AI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2563367"/>
            <a:ext cx="2852928" cy="40660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823" y="228600"/>
            <a:ext cx="8439912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832" y="2801111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40" y="1700276"/>
            <a:ext cx="13093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Cont……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07714" y="2585466"/>
            <a:ext cx="5399405" cy="939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latin typeface="Times New Roman"/>
                <a:cs typeface="Times New Roman"/>
              </a:rPr>
              <a:t>4.Job</a:t>
            </a:r>
            <a:r>
              <a:rPr dirty="0" sz="2000" spc="310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displacement:</a:t>
            </a:r>
            <a:r>
              <a:rPr dirty="0" sz="2000" spc="335" b="1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3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2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320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automate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many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jobs,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leading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job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loss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need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reskilling.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2514600"/>
            <a:ext cx="2840736" cy="37185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504" y="277368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832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642872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/>
          <p:nvPr/>
        </p:nvSpPr>
        <p:spPr>
          <a:xfrm>
            <a:off x="269240" y="1700276"/>
            <a:ext cx="13093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FFFFF"/>
                </a:solidFill>
                <a:latin typeface="Calibri"/>
                <a:cs typeface="Calibri"/>
              </a:rPr>
              <a:t>Cont……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0409" y="2535811"/>
            <a:ext cx="5568950" cy="1398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501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5.</a:t>
            </a:r>
            <a:r>
              <a:rPr dirty="0" sz="2000" spc="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Privacy</a:t>
            </a:r>
            <a:r>
              <a:rPr dirty="0" sz="2000" spc="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Concerns:</a:t>
            </a:r>
            <a:r>
              <a:rPr dirty="0" sz="2000" spc="6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collect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use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lot</a:t>
            </a:r>
            <a:r>
              <a:rPr dirty="0" sz="2000" spc="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personal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data.</a:t>
            </a:r>
            <a:r>
              <a:rPr dirty="0" sz="2000" spc="2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raises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concerns</a:t>
            </a:r>
            <a:r>
              <a:rPr dirty="0" sz="2000" spc="4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about </a:t>
            </a:r>
            <a:r>
              <a:rPr dirty="0" sz="2000">
                <a:latin typeface="Times New Roman"/>
                <a:cs typeface="Times New Roman"/>
              </a:rPr>
              <a:t>privacy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misuse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47" y="2362200"/>
            <a:ext cx="2779776" cy="39319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504" y="405384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dirty="0" spc="-65"/>
              <a:t> </a:t>
            </a:r>
            <a:r>
              <a:rPr dirty="0"/>
              <a:t>Problems</a:t>
            </a:r>
            <a:r>
              <a:rPr dirty="0" spc="5"/>
              <a:t> </a:t>
            </a:r>
            <a:r>
              <a:rPr dirty="0"/>
              <a:t>as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State</a:t>
            </a:r>
            <a:r>
              <a:rPr dirty="0" spc="-30"/>
              <a:t> </a:t>
            </a:r>
            <a:r>
              <a:rPr dirty="0"/>
              <a:t>Space</a:t>
            </a:r>
            <a:r>
              <a:rPr dirty="0" spc="-50"/>
              <a:t> </a:t>
            </a:r>
            <a:r>
              <a:rPr dirty="0" spc="-10"/>
              <a:t>Search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82" y="2210816"/>
            <a:ext cx="8717915" cy="3531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Powerful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Problem-</a:t>
            </a:r>
            <a:r>
              <a:rPr dirty="0" sz="2000" b="1">
                <a:latin typeface="Times New Roman"/>
                <a:cs typeface="Times New Roman"/>
              </a:rPr>
              <a:t>Solving</a:t>
            </a:r>
            <a:r>
              <a:rPr dirty="0" sz="2000" spc="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Technique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marR="5715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Artificial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Intelligence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(AI),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space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fundamental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approach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for </a:t>
            </a:r>
            <a:r>
              <a:rPr dirty="0" sz="2000">
                <a:latin typeface="Times New Roman"/>
                <a:cs typeface="Times New Roman"/>
              </a:rPr>
              <a:t>solving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problems.</a:t>
            </a:r>
            <a:endParaRPr sz="2000">
              <a:latin typeface="Times New Roman"/>
              <a:cs typeface="Times New Roman"/>
            </a:endParaRPr>
          </a:p>
          <a:p>
            <a:pPr marL="356870" marR="10795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involves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modeling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collection of possible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states,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along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actions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transition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them.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goal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find</a:t>
            </a:r>
            <a:r>
              <a:rPr dirty="0" sz="2000" spc="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sequence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actions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leads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starting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(initial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state)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satisfies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desired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outcome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(goal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state).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127" y="381000"/>
            <a:ext cx="8439912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1868789"/>
            <a:ext cx="8772525" cy="401320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Space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315"/>
              </a:spcBef>
            </a:pPr>
            <a:r>
              <a:rPr dirty="0" sz="2000" b="1">
                <a:latin typeface="Times New Roman"/>
                <a:cs typeface="Times New Roman"/>
              </a:rPr>
              <a:t>State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Space:</a:t>
            </a:r>
            <a:endParaRPr sz="2000">
              <a:latin typeface="Times New Roman"/>
              <a:cs typeface="Times New Roman"/>
            </a:endParaRPr>
          </a:p>
          <a:p>
            <a:pPr marL="461009" indent="-286385">
              <a:lnSpc>
                <a:spcPct val="100000"/>
              </a:lnSpc>
              <a:spcBef>
                <a:spcPts val="1115"/>
              </a:spcBef>
              <a:buFont typeface="Wingdings"/>
              <a:buChar char=""/>
              <a:tabLst>
                <a:tab pos="461009" algn="l"/>
              </a:tabLst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represents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possible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configurations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situations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in.</a:t>
            </a:r>
            <a:endParaRPr sz="1800">
              <a:latin typeface="Times New Roman"/>
              <a:cs typeface="Times New Roman"/>
            </a:endParaRPr>
          </a:p>
          <a:p>
            <a:pPr marL="461009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461009" algn="l"/>
              </a:tabLst>
            </a:pPr>
            <a:r>
              <a:rPr dirty="0" sz="1800">
                <a:latin typeface="Times New Roman"/>
                <a:cs typeface="Times New Roman"/>
              </a:rPr>
              <a:t>Each state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snapshot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specific point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time.</a:t>
            </a:r>
            <a:endParaRPr sz="1800">
              <a:latin typeface="Times New Roman"/>
              <a:cs typeface="Times New Roman"/>
            </a:endParaRPr>
          </a:p>
          <a:p>
            <a:pPr marL="461009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461009" algn="l"/>
              </a:tabLst>
            </a:pPr>
            <a:r>
              <a:rPr dirty="0" sz="1800">
                <a:latin typeface="Times New Roman"/>
                <a:cs typeface="Times New Roman"/>
              </a:rPr>
              <a:t>Examples: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Rubik's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cube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particular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configuration,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game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board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layout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chess,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pPr marL="461009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latin typeface="Times New Roman"/>
                <a:cs typeface="Times New Roman"/>
              </a:rPr>
              <a:t>city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map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during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route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planning.</a:t>
            </a:r>
            <a:endParaRPr sz="18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Times New Roman"/>
                <a:cs typeface="Times New Roman"/>
              </a:rPr>
              <a:t>Initial</a:t>
            </a:r>
            <a:r>
              <a:rPr dirty="0" sz="1800" spc="-10" b="1">
                <a:latin typeface="Times New Roman"/>
                <a:cs typeface="Times New Roman"/>
              </a:rPr>
              <a:t> State:</a:t>
            </a:r>
            <a:endParaRPr sz="1800">
              <a:latin typeface="Times New Roman"/>
              <a:cs typeface="Times New Roman"/>
            </a:endParaRPr>
          </a:p>
          <a:p>
            <a:pPr marL="461009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461009" algn="l"/>
              </a:tabLst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defines 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point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search, 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which the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solution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begins.</a:t>
            </a:r>
            <a:endParaRPr sz="1800">
              <a:latin typeface="Times New Roman"/>
              <a:cs typeface="Times New Roman"/>
            </a:endParaRPr>
          </a:p>
          <a:p>
            <a:pPr marL="461009" indent="-28638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461009" algn="l"/>
              </a:tabLst>
            </a:pPr>
            <a:r>
              <a:rPr dirty="0" sz="1800">
                <a:latin typeface="Times New Roman"/>
                <a:cs typeface="Times New Roman"/>
              </a:rPr>
              <a:t>Examples: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scrambled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Rubik's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cube,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starting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position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pieces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in</a:t>
            </a:r>
            <a:endParaRPr sz="1800">
              <a:latin typeface="Times New Roman"/>
              <a:cs typeface="Times New Roman"/>
            </a:endParaRPr>
          </a:p>
          <a:p>
            <a:pPr marL="461009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chess,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city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route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planning.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56" y="213359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"/>
              <a:t>Cont…..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297891" y="1988289"/>
            <a:ext cx="8611870" cy="3524250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2000" b="1">
                <a:latin typeface="Times New Roman"/>
                <a:cs typeface="Times New Roman"/>
              </a:rPr>
              <a:t>Goal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State(s):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5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defines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desired outcome(s)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problem.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more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meet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success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criteria.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Examples: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solved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Rubik's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cube,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checkmate position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chess,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destination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city</a:t>
            </a:r>
            <a:r>
              <a:rPr dirty="0" sz="1600" spc="-25">
                <a:latin typeface="Times New Roman"/>
                <a:cs typeface="Times New Roman"/>
              </a:rPr>
              <a:t> in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dirty="0" sz="1600">
                <a:latin typeface="Times New Roman"/>
                <a:cs typeface="Times New Roman"/>
              </a:rPr>
              <a:t>route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planning.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Actions: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5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These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operations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decisions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taken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transition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another.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Examples: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Rotating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face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Rubik's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cube,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moving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piece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chess,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choosing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road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travel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on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route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planning.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219456"/>
            <a:ext cx="8439912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"/>
              <a:t>Cont…..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297891" y="1995684"/>
            <a:ext cx="8614410" cy="4241800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2000" b="1">
                <a:latin typeface="Times New Roman"/>
                <a:cs typeface="Times New Roman"/>
              </a:rPr>
              <a:t>Successor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Function: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100"/>
              </a:lnSpc>
              <a:spcBef>
                <a:spcPts val="3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function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takes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current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input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returns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possible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states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be </a:t>
            </a:r>
            <a:r>
              <a:rPr dirty="0" sz="1800">
                <a:latin typeface="Times New Roman"/>
                <a:cs typeface="Times New Roman"/>
              </a:rPr>
              <a:t>reached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applying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single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Essentially,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outlines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 transitions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between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states.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Wingdings"/>
              <a:buChar char="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Cost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Function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(Optional):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1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function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assigns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numerical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transition.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allows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finding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most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efficient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solution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path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there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paths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goal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state.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Examples: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Distance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route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planning,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taken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move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chess.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127" y="313943"/>
            <a:ext cx="8439912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82" y="2052015"/>
            <a:ext cx="29673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Benefits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State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Space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Search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223" y="2536905"/>
            <a:ext cx="2727960" cy="84963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800" b="1">
                <a:latin typeface="Times New Roman"/>
                <a:cs typeface="Times New Roman"/>
              </a:rPr>
              <a:t>Systematic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approach: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  <a:tab pos="591820" algn="l"/>
                <a:tab pos="1518920" algn="l"/>
                <a:tab pos="1951355" algn="l"/>
              </a:tabLst>
            </a:pPr>
            <a:r>
              <a:rPr dirty="0" sz="1800" spc="-25">
                <a:latin typeface="Times New Roman"/>
                <a:cs typeface="Times New Roman"/>
              </a:rPr>
              <a:t>It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explores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the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problem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2992" y="3086480"/>
            <a:ext cx="5048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4370" algn="l"/>
                <a:tab pos="2189480" algn="l"/>
                <a:tab pos="3131820" algn="l"/>
                <a:tab pos="3512820" algn="l"/>
                <a:tab pos="4756785" algn="l"/>
              </a:tabLst>
            </a:pPr>
            <a:r>
              <a:rPr dirty="0" sz="1800" spc="-10">
                <a:latin typeface="Times New Roman"/>
                <a:cs typeface="Times New Roman"/>
              </a:rPr>
              <a:t>space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systematically,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ensuring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all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possibilities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223" y="3361669"/>
            <a:ext cx="7900034" cy="290639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299085">
              <a:lnSpc>
                <a:spcPct val="100000"/>
              </a:lnSpc>
              <a:spcBef>
                <a:spcPts val="1175"/>
              </a:spcBef>
            </a:pPr>
            <a:r>
              <a:rPr dirty="0" sz="1800" spc="-10">
                <a:latin typeface="Times New Roman"/>
                <a:cs typeface="Times New Roman"/>
              </a:rPr>
              <a:t>considered.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latin typeface="Times New Roman"/>
                <a:cs typeface="Times New Roman"/>
              </a:rPr>
              <a:t>Flexibility: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1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Applicable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various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defining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appropriate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states,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actions,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goals.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Times New Roman"/>
                <a:cs typeface="Times New Roman"/>
              </a:rPr>
              <a:t>Foundation</a:t>
            </a:r>
            <a:r>
              <a:rPr dirty="0" sz="1800" spc="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for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algorithms: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Forms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basis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many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search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algorithms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AI,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Breadth-</a:t>
            </a:r>
            <a:r>
              <a:rPr dirty="0" sz="1800">
                <a:latin typeface="Times New Roman"/>
                <a:cs typeface="Times New Roman"/>
              </a:rPr>
              <a:t>First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Search,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Depth-First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Search,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A*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Search.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191" y="152400"/>
            <a:ext cx="8436864" cy="10546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82" y="2052015"/>
            <a:ext cx="8662670" cy="4264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b="1">
                <a:latin typeface="Times New Roman"/>
                <a:cs typeface="Times New Roman"/>
              </a:rPr>
              <a:t>Challenges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State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Space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>
              <a:latin typeface="Times New Roman"/>
              <a:cs typeface="Times New Roman"/>
            </a:endParaRPr>
          </a:p>
          <a:p>
            <a:pPr marL="421640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Complexity:</a:t>
            </a:r>
            <a:endParaRPr sz="1800">
              <a:latin typeface="Times New Roman"/>
              <a:cs typeface="Times New Roman"/>
            </a:endParaRPr>
          </a:p>
          <a:p>
            <a:pPr marL="708025" marR="360680" indent="-287020">
              <a:lnSpc>
                <a:spcPct val="150100"/>
              </a:lnSpc>
              <a:buFont typeface="Wingdings"/>
              <a:buChar char=""/>
              <a:tabLst>
                <a:tab pos="708025" algn="l"/>
              </a:tabLst>
            </a:pP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4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computationally</a:t>
            </a:r>
            <a:r>
              <a:rPr dirty="0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expensive</a:t>
            </a:r>
            <a:r>
              <a:rPr dirty="0" sz="1800" spc="4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4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4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large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</a:t>
            </a:r>
            <a:r>
              <a:rPr dirty="0" sz="1800" spc="4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spaces</a:t>
            </a:r>
            <a:r>
              <a:rPr dirty="0" sz="1800" spc="4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(e.g., </a:t>
            </a:r>
            <a:r>
              <a:rPr dirty="0" sz="1800">
                <a:latin typeface="Times New Roman"/>
                <a:cs typeface="Times New Roman"/>
              </a:rPr>
              <a:t>complex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games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chess).</a:t>
            </a:r>
            <a:endParaRPr sz="1800">
              <a:latin typeface="Times New Roman"/>
              <a:cs typeface="Times New Roman"/>
            </a:endParaRPr>
          </a:p>
          <a:p>
            <a:pPr marL="42164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Times New Roman"/>
                <a:cs typeface="Times New Roman"/>
              </a:rPr>
              <a:t>Heuristic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design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(informed </a:t>
            </a:r>
            <a:r>
              <a:rPr dirty="0" sz="1800" spc="-10" b="1">
                <a:latin typeface="Times New Roman"/>
                <a:cs typeface="Times New Roman"/>
              </a:rPr>
              <a:t>search):</a:t>
            </a:r>
            <a:endParaRPr sz="1800">
              <a:latin typeface="Times New Roman"/>
              <a:cs typeface="Times New Roman"/>
            </a:endParaRPr>
          </a:p>
          <a:p>
            <a:pPr marL="708025" marR="355600" indent="-287020">
              <a:lnSpc>
                <a:spcPct val="150100"/>
              </a:lnSpc>
              <a:buFont typeface="Wingdings"/>
              <a:buChar char=""/>
              <a:tabLst>
                <a:tab pos="708025" algn="l"/>
              </a:tabLst>
            </a:pPr>
            <a:r>
              <a:rPr dirty="0" sz="1800">
                <a:latin typeface="Times New Roman"/>
                <a:cs typeface="Times New Roman"/>
              </a:rPr>
              <a:t>Designing</a:t>
            </a:r>
            <a:r>
              <a:rPr dirty="0" sz="1800" spc="2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effective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heuristic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functions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guide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search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towards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goal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is </a:t>
            </a:r>
            <a:r>
              <a:rPr dirty="0" sz="1800">
                <a:latin typeface="Times New Roman"/>
                <a:cs typeface="Times New Roman"/>
              </a:rPr>
              <a:t>crucial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informed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search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algorithms.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80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Overall,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defining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space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search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powerful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framework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solving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problems</a:t>
            </a:r>
            <a:endParaRPr sz="160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in </a:t>
            </a:r>
            <a:r>
              <a:rPr dirty="0" sz="1600" spc="-25">
                <a:latin typeface="Times New Roman"/>
                <a:cs typeface="Times New Roman"/>
              </a:rPr>
              <a:t>AI.</a:t>
            </a:r>
            <a:endParaRPr sz="1600">
              <a:latin typeface="Times New Roman"/>
              <a:cs typeface="Times New Roman"/>
            </a:endParaRPr>
          </a:p>
          <a:p>
            <a:pPr marL="66675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4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understanding</a:t>
            </a:r>
            <a:r>
              <a:rPr dirty="0" sz="1600" spc="43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components</a:t>
            </a:r>
            <a:r>
              <a:rPr dirty="0" sz="1600" spc="4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considering</a:t>
            </a:r>
            <a:r>
              <a:rPr dirty="0" sz="1600" spc="4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challenges,</a:t>
            </a:r>
            <a:r>
              <a:rPr dirty="0" sz="1600" spc="4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</a:t>
            </a:r>
            <a:r>
              <a:rPr dirty="0" sz="1600" spc="4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4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effectively</a:t>
            </a:r>
            <a:r>
              <a:rPr dirty="0" sz="1600" spc="4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apply</a:t>
            </a:r>
            <a:r>
              <a:rPr dirty="0" sz="1600" spc="42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this </a:t>
            </a:r>
            <a:r>
              <a:rPr dirty="0" sz="1600">
                <a:latin typeface="Times New Roman"/>
                <a:cs typeface="Times New Roman"/>
              </a:rPr>
              <a:t>technique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various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applications.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527" y="271272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739" y="1413128"/>
            <a:ext cx="31921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60"/>
              <a:t> </a:t>
            </a:r>
            <a:r>
              <a:rPr dirty="0" spc="-1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82" y="1834621"/>
            <a:ext cx="8610600" cy="4512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04775" marR="98425">
              <a:lnSpc>
                <a:spcPct val="150000"/>
              </a:lnSpc>
              <a:spcBef>
                <a:spcPts val="95"/>
              </a:spcBef>
            </a:pP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</a:t>
            </a:r>
            <a:r>
              <a:rPr dirty="0" sz="1800" spc="1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come</a:t>
            </a:r>
            <a:r>
              <a:rPr dirty="0" sz="1800" spc="1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1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many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flavors,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unlike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neatly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defined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math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problems,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they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often </a:t>
            </a:r>
            <a:r>
              <a:rPr dirty="0" sz="1800">
                <a:latin typeface="Times New Roman"/>
                <a:cs typeface="Times New Roman"/>
              </a:rPr>
              <a:t>have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characteristics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make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them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challenging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solve.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Here's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breakdown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some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key </a:t>
            </a:r>
            <a:r>
              <a:rPr dirty="0" sz="1800">
                <a:latin typeface="Times New Roman"/>
                <a:cs typeface="Times New Roman"/>
              </a:rPr>
              <a:t>characteristics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AI:</a:t>
            </a:r>
            <a:endParaRPr sz="18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 b="1">
                <a:latin typeface="Times New Roman"/>
                <a:cs typeface="Times New Roman"/>
              </a:rPr>
              <a:t>Complexity:</a:t>
            </a:r>
            <a:r>
              <a:rPr dirty="0" sz="1600" spc="18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Many</a:t>
            </a:r>
            <a:r>
              <a:rPr dirty="0" sz="1600" spc="1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1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problems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involve</a:t>
            </a:r>
            <a:r>
              <a:rPr dirty="0" sz="1600" spc="1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vast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amounts</a:t>
            </a:r>
            <a:r>
              <a:rPr dirty="0" sz="1600" spc="1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1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intricate</a:t>
            </a:r>
            <a:r>
              <a:rPr dirty="0" sz="1600" spc="1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relationships</a:t>
            </a:r>
            <a:r>
              <a:rPr dirty="0" sz="1600" spc="1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between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dirty="0" sz="1600" spc="-10">
                <a:latin typeface="Times New Roman"/>
                <a:cs typeface="Times New Roman"/>
              </a:rPr>
              <a:t>variables.</a:t>
            </a:r>
            <a:endParaRPr sz="16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Imagine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training</a:t>
            </a:r>
            <a:r>
              <a:rPr dirty="0" sz="1600" spc="1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-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has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deal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2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millions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images,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with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Times New Roman"/>
                <a:cs typeface="Times New Roman"/>
              </a:rPr>
              <a:t>countless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pixels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variations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lighting,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pose,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background</a:t>
            </a:r>
            <a:r>
              <a:rPr dirty="0" sz="1400" spc="-1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600">
              <a:latin typeface="Arial MT"/>
              <a:cs typeface="Arial MT"/>
            </a:endParaRPr>
          </a:p>
          <a:p>
            <a:pPr algn="just" marL="2984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dirty="0" sz="1600" b="1">
                <a:latin typeface="Times New Roman"/>
                <a:cs typeface="Times New Roman"/>
              </a:rPr>
              <a:t>Uncertainty</a:t>
            </a:r>
            <a:r>
              <a:rPr dirty="0" sz="1600" spc="38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and</a:t>
            </a:r>
            <a:r>
              <a:rPr dirty="0" sz="1600" spc="38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Ambiguity:</a:t>
            </a:r>
            <a:r>
              <a:rPr dirty="0" sz="1600" spc="355" b="1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world</a:t>
            </a:r>
            <a:r>
              <a:rPr dirty="0" sz="1600" spc="3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3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3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rarely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perfect.</a:t>
            </a:r>
            <a:r>
              <a:rPr dirty="0" sz="1600" spc="3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Sensor</a:t>
            </a:r>
            <a:r>
              <a:rPr dirty="0" sz="1600" spc="3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readings</a:t>
            </a:r>
            <a:r>
              <a:rPr dirty="0" sz="1600" spc="3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3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3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noisy,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might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incomplete,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boundaries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between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categories can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blurry.</a:t>
            </a:r>
            <a:endParaRPr sz="1600">
              <a:latin typeface="Times New Roman"/>
              <a:cs typeface="Times New Roman"/>
            </a:endParaRPr>
          </a:p>
          <a:p>
            <a:pPr algn="just" marL="298450" indent="-28575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2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2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self-</a:t>
            </a:r>
            <a:r>
              <a:rPr dirty="0" sz="1600">
                <a:latin typeface="Times New Roman"/>
                <a:cs typeface="Times New Roman"/>
              </a:rPr>
              <a:t>driving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cars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needs</a:t>
            </a:r>
            <a:r>
              <a:rPr dirty="0" sz="1600" spc="2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unexpected</a:t>
            </a:r>
            <a:r>
              <a:rPr dirty="0" sz="1600" spc="2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situations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2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road,</a:t>
            </a:r>
            <a:r>
              <a:rPr dirty="0" sz="1600" spc="2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like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unclear</a:t>
            </a:r>
            <a:r>
              <a:rPr dirty="0" sz="1600" spc="30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lane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dirty="0" sz="1600">
                <a:latin typeface="Times New Roman"/>
                <a:cs typeface="Times New Roman"/>
              </a:rPr>
              <a:t>markings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sudden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weather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changes.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127" y="451104"/>
            <a:ext cx="8439912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739" y="1413128"/>
            <a:ext cx="31921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60"/>
              <a:t> </a:t>
            </a:r>
            <a:r>
              <a:rPr dirty="0" spc="-1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82" y="1834621"/>
            <a:ext cx="8610600" cy="4512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04775" marR="98425">
              <a:lnSpc>
                <a:spcPct val="150000"/>
              </a:lnSpc>
              <a:spcBef>
                <a:spcPts val="95"/>
              </a:spcBef>
            </a:pP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</a:t>
            </a:r>
            <a:r>
              <a:rPr dirty="0" sz="1800" spc="1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come</a:t>
            </a:r>
            <a:r>
              <a:rPr dirty="0" sz="1800" spc="1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1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many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flavors,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unlike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neatly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defined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math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problems,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they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often </a:t>
            </a:r>
            <a:r>
              <a:rPr dirty="0" sz="1800">
                <a:latin typeface="Times New Roman"/>
                <a:cs typeface="Times New Roman"/>
              </a:rPr>
              <a:t>have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characteristics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make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them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challenging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solve.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Here's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breakdown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some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key </a:t>
            </a:r>
            <a:r>
              <a:rPr dirty="0" sz="1800">
                <a:latin typeface="Times New Roman"/>
                <a:cs typeface="Times New Roman"/>
              </a:rPr>
              <a:t>characteristics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problems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AI:</a:t>
            </a:r>
            <a:endParaRPr sz="18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 b="1">
                <a:latin typeface="Times New Roman"/>
                <a:cs typeface="Times New Roman"/>
              </a:rPr>
              <a:t>Complexity:</a:t>
            </a:r>
            <a:r>
              <a:rPr dirty="0" sz="1600" spc="18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Many</a:t>
            </a:r>
            <a:r>
              <a:rPr dirty="0" sz="1600" spc="1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1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problems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involve</a:t>
            </a:r>
            <a:r>
              <a:rPr dirty="0" sz="1600" spc="1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vast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amounts</a:t>
            </a:r>
            <a:r>
              <a:rPr dirty="0" sz="1600" spc="1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1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intricate</a:t>
            </a:r>
            <a:r>
              <a:rPr dirty="0" sz="1600" spc="1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relationships</a:t>
            </a:r>
            <a:r>
              <a:rPr dirty="0" sz="1600" spc="1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between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dirty="0" sz="1600" spc="-10">
                <a:latin typeface="Times New Roman"/>
                <a:cs typeface="Times New Roman"/>
              </a:rPr>
              <a:t>variables.</a:t>
            </a:r>
            <a:endParaRPr sz="16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Imagine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training</a:t>
            </a:r>
            <a:r>
              <a:rPr dirty="0" sz="1600" spc="1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-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has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deal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2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millions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images,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with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Times New Roman"/>
                <a:cs typeface="Times New Roman"/>
              </a:rPr>
              <a:t>countless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pixels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variations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lighting,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pose,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background</a:t>
            </a:r>
            <a:r>
              <a:rPr dirty="0" sz="1400" spc="-1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600">
              <a:latin typeface="Arial MT"/>
              <a:cs typeface="Arial MT"/>
            </a:endParaRPr>
          </a:p>
          <a:p>
            <a:pPr algn="just" marL="2984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dirty="0" sz="1600" b="1">
                <a:latin typeface="Times New Roman"/>
                <a:cs typeface="Times New Roman"/>
              </a:rPr>
              <a:t>Uncertainty</a:t>
            </a:r>
            <a:r>
              <a:rPr dirty="0" sz="1600" spc="38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and</a:t>
            </a:r>
            <a:r>
              <a:rPr dirty="0" sz="1600" spc="38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Ambiguity:</a:t>
            </a:r>
            <a:r>
              <a:rPr dirty="0" sz="1600" spc="355" b="1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world</a:t>
            </a:r>
            <a:r>
              <a:rPr dirty="0" sz="1600" spc="3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3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3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rarely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perfect.</a:t>
            </a:r>
            <a:r>
              <a:rPr dirty="0" sz="1600" spc="3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Sensor</a:t>
            </a:r>
            <a:r>
              <a:rPr dirty="0" sz="1600" spc="3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readings</a:t>
            </a:r>
            <a:r>
              <a:rPr dirty="0" sz="1600" spc="3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3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3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noisy,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might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incomplete,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boundaries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between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categories can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blurry.</a:t>
            </a:r>
            <a:endParaRPr sz="1600">
              <a:latin typeface="Times New Roman"/>
              <a:cs typeface="Times New Roman"/>
            </a:endParaRPr>
          </a:p>
          <a:p>
            <a:pPr algn="just" marL="298450" indent="-28575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2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2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self-</a:t>
            </a:r>
            <a:r>
              <a:rPr dirty="0" sz="1600">
                <a:latin typeface="Times New Roman"/>
                <a:cs typeface="Times New Roman"/>
              </a:rPr>
              <a:t>driving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cars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needs</a:t>
            </a:r>
            <a:r>
              <a:rPr dirty="0" sz="1600" spc="2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unexpected</a:t>
            </a:r>
            <a:r>
              <a:rPr dirty="0" sz="1600" spc="2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situations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2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road,</a:t>
            </a:r>
            <a:r>
              <a:rPr dirty="0" sz="1600" spc="2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like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unclear</a:t>
            </a:r>
            <a:r>
              <a:rPr dirty="0" sz="1600" spc="30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lane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dirty="0" sz="1600">
                <a:latin typeface="Times New Roman"/>
                <a:cs typeface="Times New Roman"/>
              </a:rPr>
              <a:t>markings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sudden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weather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changes.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127" y="216408"/>
            <a:ext cx="8439912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739" y="1413128"/>
            <a:ext cx="12788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7320" y="1786432"/>
            <a:ext cx="8609965" cy="459994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2000" spc="-10" b="1">
                <a:latin typeface="Times New Roman"/>
                <a:cs typeface="Times New Roman"/>
              </a:rPr>
              <a:t>Non-linearity:</a:t>
            </a:r>
            <a:endParaRPr sz="2000">
              <a:latin typeface="Times New Roman"/>
              <a:cs typeface="Times New Roman"/>
            </a:endParaRPr>
          </a:p>
          <a:p>
            <a:pPr algn="just"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many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cause-and-</a:t>
            </a:r>
            <a:r>
              <a:rPr dirty="0" sz="2000">
                <a:latin typeface="Times New Roman"/>
                <a:cs typeface="Times New Roman"/>
              </a:rPr>
              <a:t>effect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aren't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straightforward.</a:t>
            </a:r>
            <a:endParaRPr sz="2000">
              <a:latin typeface="Times New Roman"/>
              <a:cs typeface="Times New Roman"/>
            </a:endParaRPr>
          </a:p>
          <a:p>
            <a:pPr algn="just" marL="355600" marR="5080" indent="-343535">
              <a:lnSpc>
                <a:spcPts val="3600"/>
              </a:lnSpc>
              <a:spcBef>
                <a:spcPts val="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Small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lead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significant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output.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Developing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stock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market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prediction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requires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dealing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complex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interactions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economic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factors,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events,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investor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behavior.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2000" spc="-10" b="1">
                <a:latin typeface="Times New Roman"/>
                <a:cs typeface="Times New Roman"/>
              </a:rPr>
              <a:t>Dynamism:</a:t>
            </a:r>
            <a:endParaRPr sz="2000">
              <a:latin typeface="Times New Roman"/>
              <a:cs typeface="Times New Roman"/>
            </a:endParaRPr>
          </a:p>
          <a:p>
            <a:pPr marL="356870" marR="762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world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around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constantly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changing.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adapt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situations.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spam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filter,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example,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continuously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spam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tactics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malicious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actors.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071" y="195071"/>
            <a:ext cx="8439912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9240" y="2328244"/>
            <a:ext cx="8609330" cy="373126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800" b="1">
                <a:latin typeface="Times New Roman"/>
                <a:cs typeface="Times New Roman"/>
              </a:rPr>
              <a:t>Context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Sensitivity: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meaning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depend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context 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which it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appears.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 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sentiment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analysis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needs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 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nuances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language,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sarcasm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or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humor,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determine 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true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sentiment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text.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latin typeface="Times New Roman"/>
                <a:cs typeface="Times New Roman"/>
              </a:rPr>
              <a:t>Subjectivity: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Concepts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beauty,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fairness,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humor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subjective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vary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depending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latin typeface="Times New Roman"/>
                <a:cs typeface="Times New Roman"/>
              </a:rPr>
              <a:t>individual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culture.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captioning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needs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these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subjective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interpretations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when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generating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captions.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298704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3585" y="2184349"/>
            <a:ext cx="8176895" cy="295338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spc="-10" b="1">
                <a:latin typeface="Times New Roman"/>
                <a:cs typeface="Times New Roman"/>
              </a:rPr>
              <a:t>Interactivity: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Some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involve interaction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environment.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2880"/>
              </a:lnSpc>
              <a:spcBef>
                <a:spcPts val="254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1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2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game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playing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agent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needs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consider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actions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its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opponent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adapt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its </a:t>
            </a:r>
            <a:r>
              <a:rPr dirty="0" sz="1600">
                <a:latin typeface="Times New Roman"/>
                <a:cs typeface="Times New Roman"/>
              </a:rPr>
              <a:t>strategy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accordingly.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0"/>
              </a:spcBef>
              <a:buFont typeface="Wingdings"/>
              <a:buChar char="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Times New Roman"/>
                <a:cs typeface="Times New Roman"/>
              </a:rPr>
              <a:t>Multidisciplinary</a:t>
            </a:r>
            <a:r>
              <a:rPr dirty="0" sz="1600" spc="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Expertise: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  <a:tab pos="1057910" algn="l"/>
                <a:tab pos="1890395" algn="l"/>
                <a:tab pos="3116580" algn="l"/>
                <a:tab pos="3665220" algn="l"/>
                <a:tab pos="4448810" algn="l"/>
                <a:tab pos="5655945" algn="l"/>
                <a:tab pos="6461125" algn="l"/>
                <a:tab pos="7360284" algn="l"/>
              </a:tabLst>
            </a:pPr>
            <a:r>
              <a:rPr dirty="0" sz="1600" spc="-10">
                <a:latin typeface="Times New Roman"/>
                <a:cs typeface="Times New Roman"/>
              </a:rPr>
              <a:t>Solving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complex</a:t>
            </a:r>
            <a:r>
              <a:rPr dirty="0" sz="1600">
                <a:latin typeface="Times New Roman"/>
                <a:cs typeface="Times New Roman"/>
              </a:rPr>
              <a:t>	AI</a:t>
            </a:r>
            <a:r>
              <a:rPr dirty="0" sz="1600" spc="80">
                <a:latin typeface="Times New Roman"/>
                <a:cs typeface="Times New Roman"/>
              </a:rPr>
              <a:t>  </a:t>
            </a:r>
            <a:r>
              <a:rPr dirty="0" sz="1600" spc="-10">
                <a:latin typeface="Times New Roman"/>
                <a:cs typeface="Times New Roman"/>
              </a:rPr>
              <a:t>problems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20">
                <a:latin typeface="Times New Roman"/>
                <a:cs typeface="Times New Roman"/>
              </a:rPr>
              <a:t>often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requires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collaboration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between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computer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scientists,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dirty="0" sz="1600">
                <a:latin typeface="Times New Roman"/>
                <a:cs typeface="Times New Roman"/>
              </a:rPr>
              <a:t>mathematicians,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psychologists,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linguists,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domain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experts.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895" y="338327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1269" y="2002870"/>
            <a:ext cx="8426450" cy="414274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Ethical</a:t>
            </a:r>
            <a:r>
              <a:rPr dirty="0" sz="1800" spc="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Considerations:</a:t>
            </a:r>
            <a:r>
              <a:rPr dirty="0" sz="1800" spc="4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becomes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powerful,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ethical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considerations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become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 spc="-10">
                <a:latin typeface="Times New Roman"/>
                <a:cs typeface="Times New Roman"/>
              </a:rPr>
              <a:t>paramount.</a:t>
            </a:r>
            <a:endParaRPr sz="1800">
              <a:latin typeface="Times New Roman"/>
              <a:cs typeface="Times New Roman"/>
            </a:endParaRPr>
          </a:p>
          <a:p>
            <a:pPr algn="just" marL="297815" marR="7620" indent="-285750">
              <a:lnSpc>
                <a:spcPct val="15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Biases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training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lead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discriminatory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systems.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development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 spc="-25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deployment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need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done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responsibly,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considering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fairness,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transparency,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 spc="-25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accountability.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50100"/>
              </a:lnSpc>
            </a:pPr>
            <a:r>
              <a:rPr dirty="0" sz="1800">
                <a:latin typeface="Times New Roman"/>
                <a:cs typeface="Times New Roman"/>
              </a:rPr>
              <a:t>Understanding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these</a:t>
            </a:r>
            <a:r>
              <a:rPr dirty="0" sz="1800" spc="3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characteristics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crucial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3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researchers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3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developers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designing </a:t>
            </a:r>
            <a:r>
              <a:rPr dirty="0" sz="1800">
                <a:latin typeface="Times New Roman"/>
                <a:cs typeface="Times New Roman"/>
              </a:rPr>
              <a:t>effective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solutions.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acknowledging</a:t>
            </a:r>
            <a:r>
              <a:rPr dirty="0" sz="1800" spc="2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challenges</a:t>
            </a:r>
            <a:r>
              <a:rPr dirty="0" sz="1800" spc="3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complexities,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they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3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create</a:t>
            </a:r>
            <a:r>
              <a:rPr dirty="0" sz="1800" spc="3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algorithms</a:t>
            </a:r>
            <a:r>
              <a:rPr dirty="0" sz="1800" spc="3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30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are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robust,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adaptable,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address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world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problems.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237743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496567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0984" y="1553336"/>
            <a:ext cx="315404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Production</a:t>
            </a:r>
            <a:r>
              <a:rPr dirty="0" sz="3000" spc="-1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Systems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931" y="2243409"/>
            <a:ext cx="8794115" cy="2221865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54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400">
                <a:latin typeface="Times New Roman"/>
                <a:cs typeface="Times New Roman"/>
              </a:rPr>
              <a:t>Production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rules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rules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apply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information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Times New Roman"/>
                <a:cs typeface="Times New Roman"/>
              </a:rPr>
              <a:t>collected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global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  <a:p>
            <a:pPr marL="356870" marR="635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5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rule</a:t>
            </a:r>
            <a:r>
              <a:rPr dirty="0" sz="2400" spc="5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has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precondition</a:t>
            </a:r>
            <a:r>
              <a:rPr dirty="0" sz="2400" spc="5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postcondition</a:t>
            </a:r>
            <a:r>
              <a:rPr dirty="0" sz="2400" spc="5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5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global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must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either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fulfill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not,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depending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rule.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" y="103631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496567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739" y="1614042"/>
            <a:ext cx="19723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5"/>
              <a:t> </a:t>
            </a:r>
            <a:r>
              <a:rPr dirty="0"/>
              <a:t>its </a:t>
            </a:r>
            <a:r>
              <a:rPr dirty="0" spc="-20"/>
              <a:t>Works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7891" y="2396111"/>
            <a:ext cx="8587105" cy="368554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algn="just" marL="298450" indent="-285750">
              <a:lnSpc>
                <a:spcPct val="100000"/>
              </a:lnSpc>
              <a:spcBef>
                <a:spcPts val="1305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2000" b="1">
                <a:latin typeface="Times New Roman"/>
                <a:cs typeface="Times New Roman"/>
              </a:rPr>
              <a:t>Input: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receives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current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situation.</a:t>
            </a:r>
            <a:endParaRPr sz="2000">
              <a:latin typeface="Times New Roman"/>
              <a:cs typeface="Times New Roman"/>
            </a:endParaRPr>
          </a:p>
          <a:p>
            <a:pPr algn="just" marL="297815" marR="8255" indent="-285750">
              <a:lnSpc>
                <a:spcPct val="1501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Matching: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inference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engine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compares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conditions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production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rules.</a:t>
            </a:r>
            <a:endParaRPr sz="2000">
              <a:latin typeface="Times New Roman"/>
              <a:cs typeface="Times New Roman"/>
            </a:endParaRPr>
          </a:p>
          <a:p>
            <a:pPr algn="just" marL="297815" marR="7620" indent="-285750">
              <a:lnSpc>
                <a:spcPts val="3600"/>
              </a:lnSpc>
              <a:spcBef>
                <a:spcPts val="32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Firing:</a:t>
            </a:r>
            <a:r>
              <a:rPr dirty="0" sz="2000" spc="3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rule's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condition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matches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data,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rule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fired,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corresponding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taken.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involve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modifying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system's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internal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generating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output,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firing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rules.</a:t>
            </a:r>
            <a:endParaRPr sz="2000">
              <a:latin typeface="Times New Roman"/>
              <a:cs typeface="Times New Roman"/>
            </a:endParaRPr>
          </a:p>
          <a:p>
            <a:pPr algn="just" marL="298450" indent="-285750">
              <a:lnSpc>
                <a:spcPct val="100000"/>
              </a:lnSpc>
              <a:spcBef>
                <a:spcPts val="890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2000" b="1">
                <a:latin typeface="Times New Roman"/>
                <a:cs typeface="Times New Roman"/>
              </a:rPr>
              <a:t>Iteration:</a:t>
            </a:r>
            <a:r>
              <a:rPr dirty="0" sz="2000" spc="2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continues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iteratively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until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applicable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rules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found 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achieved.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56" y="274320"/>
            <a:ext cx="8436864" cy="6949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496567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739" y="1614042"/>
            <a:ext cx="16706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931" y="2285542"/>
            <a:ext cx="8609330" cy="4142104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Production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various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including: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Expert</a:t>
            </a:r>
            <a:r>
              <a:rPr dirty="0" sz="2000" spc="1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Systems:</a:t>
            </a:r>
            <a:r>
              <a:rPr dirty="0" sz="2000" spc="18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capture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human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experts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domain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solve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diagnose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diseases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advice.</a:t>
            </a:r>
            <a:endParaRPr sz="20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Medical</a:t>
            </a:r>
            <a:r>
              <a:rPr dirty="0" sz="2000" spc="2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Diagnosis:</a:t>
            </a:r>
            <a:r>
              <a:rPr dirty="0" sz="2000" spc="30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patient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2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medical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history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production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rules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suggest potential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diagnoses.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Game</a:t>
            </a:r>
            <a:r>
              <a:rPr dirty="0" sz="2000" spc="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Playing:</a:t>
            </a:r>
            <a:r>
              <a:rPr dirty="0" sz="2000" spc="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players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games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chess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checkers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production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rules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evaluate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game state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make optimal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moves.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Robotics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Control: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Robots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production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rules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react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environment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decisions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actions.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559" y="262127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1413128"/>
            <a:ext cx="8830310" cy="3865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Issues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endParaRPr sz="2400">
              <a:latin typeface="Times New Roman"/>
              <a:cs typeface="Times New Roman"/>
            </a:endParaRPr>
          </a:p>
          <a:p>
            <a:pPr algn="just" marL="576580" marR="5080" indent="-344805">
              <a:lnSpc>
                <a:spcPct val="150100"/>
              </a:lnSpc>
              <a:spcBef>
                <a:spcPts val="1425"/>
              </a:spcBef>
              <a:buFont typeface="Wingdings"/>
              <a:buChar char=""/>
              <a:tabLst>
                <a:tab pos="576580" algn="l"/>
              </a:tabLst>
            </a:pPr>
            <a:r>
              <a:rPr dirty="0" sz="2400">
                <a:latin typeface="Times New Roman"/>
                <a:cs typeface="Times New Roman"/>
              </a:rPr>
              <a:t>Search</a:t>
            </a:r>
            <a:r>
              <a:rPr dirty="0" sz="2400" spc="1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algorithms</a:t>
            </a:r>
            <a:r>
              <a:rPr dirty="0" sz="2400" spc="114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play</a:t>
            </a:r>
            <a:r>
              <a:rPr dirty="0" sz="2400" spc="10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0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essential</a:t>
            </a:r>
            <a:r>
              <a:rPr dirty="0" sz="2400" spc="1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role</a:t>
            </a:r>
            <a:r>
              <a:rPr dirty="0" sz="2400" spc="10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114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numerous</a:t>
            </a:r>
            <a:r>
              <a:rPr dirty="0" sz="2400" spc="11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artificial </a:t>
            </a:r>
            <a:r>
              <a:rPr dirty="0" sz="2400">
                <a:latin typeface="Times New Roman"/>
                <a:cs typeface="Times New Roman"/>
              </a:rPr>
              <a:t>intelligence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applications,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surrounding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planning,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game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playing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machine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learning.</a:t>
            </a:r>
            <a:endParaRPr sz="2400">
              <a:latin typeface="Times New Roman"/>
              <a:cs typeface="Times New Roman"/>
            </a:endParaRPr>
          </a:p>
          <a:p>
            <a:pPr algn="just" marL="576580" marR="6985" indent="-344805">
              <a:lnSpc>
                <a:spcPct val="150100"/>
              </a:lnSpc>
              <a:buFont typeface="Wingdings"/>
              <a:buChar char=""/>
              <a:tabLst>
                <a:tab pos="57658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effectiveness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search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algorithm</a:t>
            </a:r>
            <a:r>
              <a:rPr dirty="0" sz="2400" spc="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centers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various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factors, </a:t>
            </a:r>
            <a:r>
              <a:rPr dirty="0" sz="2400">
                <a:latin typeface="Times New Roman"/>
                <a:cs typeface="Times New Roman"/>
              </a:rPr>
              <a:t>including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nature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search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problem, available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resources,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desired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solution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characteristics</a:t>
            </a:r>
            <a:r>
              <a:rPr dirty="0" sz="1600" spc="-1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127" y="219456"/>
            <a:ext cx="8439912" cy="6979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80" y="3429000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304544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53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82" y="2110232"/>
            <a:ext cx="7653655" cy="323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The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Two</a:t>
            </a:r>
            <a:r>
              <a:rPr dirty="0" sz="1800" spc="-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Main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Search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Algorithm</a:t>
            </a:r>
            <a:r>
              <a:rPr dirty="0" sz="1800" spc="-10" b="1">
                <a:latin typeface="Times New Roman"/>
                <a:cs typeface="Times New Roman"/>
              </a:rPr>
              <a:t> Classes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800">
              <a:latin typeface="Times New Roman"/>
              <a:cs typeface="Times New Roman"/>
            </a:endParaRPr>
          </a:p>
          <a:p>
            <a:pPr marL="203835" indent="-193675">
              <a:lnSpc>
                <a:spcPct val="100000"/>
              </a:lnSpc>
              <a:buSzPct val="95000"/>
              <a:buAutoNum type="arabicPeriod"/>
              <a:tabLst>
                <a:tab pos="203835" algn="l"/>
              </a:tabLst>
            </a:pPr>
            <a:r>
              <a:rPr dirty="0" sz="2000" b="1">
                <a:latin typeface="Times New Roman"/>
                <a:cs typeface="Times New Roman"/>
              </a:rPr>
              <a:t>Uninformed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Search</a:t>
            </a:r>
            <a:r>
              <a:rPr dirty="0" sz="2000" spc="-9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Algorithms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Explore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space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systematically,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present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goal.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Examples:</a:t>
            </a:r>
            <a:r>
              <a:rPr dirty="0" sz="2000" spc="25" b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Breadth-</a:t>
            </a:r>
            <a:r>
              <a:rPr dirty="0" sz="2000">
                <a:latin typeface="Times New Roman"/>
                <a:cs typeface="Times New Roman"/>
              </a:rPr>
              <a:t>First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(BFS),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Depth-</a:t>
            </a:r>
            <a:r>
              <a:rPr dirty="0" sz="2000">
                <a:latin typeface="Times New Roman"/>
                <a:cs typeface="Times New Roman"/>
              </a:rPr>
              <a:t>First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(DFS)</a:t>
            </a:r>
            <a:endParaRPr sz="2000">
              <a:latin typeface="Times New Roman"/>
              <a:cs typeface="Times New Roman"/>
            </a:endParaRPr>
          </a:p>
          <a:p>
            <a:pPr marL="203835" indent="-193675">
              <a:lnSpc>
                <a:spcPct val="100000"/>
              </a:lnSpc>
              <a:spcBef>
                <a:spcPts val="1205"/>
              </a:spcBef>
              <a:buSzPct val="95000"/>
              <a:buAutoNum type="arabicPeriod" startAt="2"/>
              <a:tabLst>
                <a:tab pos="203835" algn="l"/>
              </a:tabLst>
            </a:pPr>
            <a:r>
              <a:rPr dirty="0" sz="2000" b="1">
                <a:latin typeface="Times New Roman"/>
                <a:cs typeface="Times New Roman"/>
              </a:rPr>
              <a:t>Informed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Search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Algorithms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Utilize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domain-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drive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near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goal.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Examples: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Greedy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A*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286511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503" y="2791967"/>
            <a:ext cx="5431536" cy="280416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295400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3127"/>
                </a:lnTo>
                <a:lnTo>
                  <a:pt x="9144000" y="64312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7891" y="2091944"/>
            <a:ext cx="6072505" cy="41611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latin typeface="Times New Roman"/>
                <a:cs typeface="Times New Roman"/>
              </a:rPr>
              <a:t>Challenges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Uninformed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  <a:spcBef>
                <a:spcPts val="1770"/>
              </a:spcBef>
            </a:pPr>
            <a:r>
              <a:rPr dirty="0" sz="2000" spc="-10" b="1">
                <a:latin typeface="Times New Roman"/>
                <a:cs typeface="Times New Roman"/>
              </a:rPr>
              <a:t>Completeness</a:t>
            </a:r>
            <a:endParaRPr sz="2000">
              <a:latin typeface="Times New Roman"/>
              <a:cs typeface="Times New Roman"/>
            </a:endParaRPr>
          </a:p>
          <a:p>
            <a:pPr marL="1097915" indent="-53657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1097915" algn="l"/>
              </a:tabLst>
            </a:pP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finding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solution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exists.</a:t>
            </a:r>
            <a:endParaRPr sz="2000">
              <a:latin typeface="Times New Roman"/>
              <a:cs typeface="Times New Roman"/>
            </a:endParaRPr>
          </a:p>
          <a:p>
            <a:pPr marL="1097915" indent="-536575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1097915" algn="l"/>
              </a:tabLst>
            </a:pPr>
            <a:r>
              <a:rPr dirty="0" sz="2000">
                <a:latin typeface="Times New Roman"/>
                <a:cs typeface="Times New Roman"/>
              </a:rPr>
              <a:t>BFS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most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problems.</a:t>
            </a:r>
            <a:endParaRPr sz="2000">
              <a:latin typeface="Times New Roman"/>
              <a:cs typeface="Times New Roman"/>
            </a:endParaRPr>
          </a:p>
          <a:p>
            <a:pPr marL="1097915" indent="-53657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1097915" algn="l"/>
              </a:tabLst>
            </a:pPr>
            <a:r>
              <a:rPr dirty="0" sz="2000">
                <a:latin typeface="Times New Roman"/>
                <a:cs typeface="Times New Roman"/>
              </a:rPr>
              <a:t>DFS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might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infinite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loops.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Optimality</a:t>
            </a:r>
            <a:endParaRPr sz="2000">
              <a:latin typeface="Times New Roman"/>
              <a:cs typeface="Times New Roman"/>
            </a:endParaRPr>
          </a:p>
          <a:p>
            <a:pPr marL="1097915" indent="-53657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1097915" algn="l"/>
              </a:tabLst>
            </a:pPr>
            <a:r>
              <a:rPr dirty="0" sz="2000">
                <a:latin typeface="Times New Roman"/>
                <a:cs typeface="Times New Roman"/>
              </a:rPr>
              <a:t>Finds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solution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lowest </a:t>
            </a:r>
            <a:r>
              <a:rPr dirty="0" sz="2000" spc="-10">
                <a:latin typeface="Times New Roman"/>
                <a:cs typeface="Times New Roman"/>
              </a:rPr>
              <a:t>cost.</a:t>
            </a:r>
            <a:endParaRPr sz="2000">
              <a:latin typeface="Times New Roman"/>
              <a:cs typeface="Times New Roman"/>
            </a:endParaRPr>
          </a:p>
          <a:p>
            <a:pPr marL="1097915" indent="-53657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1097915" algn="l"/>
              </a:tabLst>
            </a:pPr>
            <a:r>
              <a:rPr dirty="0" sz="2000">
                <a:latin typeface="Times New Roman"/>
                <a:cs typeface="Times New Roman"/>
              </a:rPr>
              <a:t>BFS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uniform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costs.</a:t>
            </a:r>
            <a:endParaRPr sz="2000">
              <a:latin typeface="Times New Roman"/>
              <a:cs typeface="Times New Roman"/>
            </a:endParaRPr>
          </a:p>
          <a:p>
            <a:pPr marL="1097915" indent="-536575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1097915" algn="l"/>
              </a:tabLst>
            </a:pPr>
            <a:r>
              <a:rPr dirty="0" sz="2000">
                <a:latin typeface="Times New Roman"/>
                <a:cs typeface="Times New Roman"/>
              </a:rPr>
              <a:t>DFS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might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solution.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487" y="298704"/>
            <a:ext cx="84368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95400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739" y="1413128"/>
            <a:ext cx="11264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7320" y="1830075"/>
            <a:ext cx="8756650" cy="423862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2000" b="1">
                <a:latin typeface="Times New Roman"/>
                <a:cs typeface="Times New Roman"/>
              </a:rPr>
              <a:t>Considerations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Informed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1185"/>
              </a:spcBef>
            </a:pPr>
            <a:r>
              <a:rPr dirty="0" sz="2000" b="1">
                <a:latin typeface="Times New Roman"/>
                <a:cs typeface="Times New Roman"/>
              </a:rPr>
              <a:t>Experiential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Function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  <a:p>
            <a:pPr marL="507365" indent="-344170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507365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quality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experiential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function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significantly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impacts</a:t>
            </a:r>
            <a:r>
              <a:rPr dirty="0" sz="2000" spc="-10">
                <a:latin typeface="Times New Roman"/>
                <a:cs typeface="Times New Roman"/>
              </a:rPr>
              <a:t> performance.</a:t>
            </a:r>
            <a:endParaRPr sz="2000">
              <a:latin typeface="Times New Roman"/>
              <a:cs typeface="Times New Roman"/>
            </a:endParaRPr>
          </a:p>
          <a:p>
            <a:pPr marL="507365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507365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good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experiential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function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should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permissible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(never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overestimate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cost)</a:t>
            </a:r>
            <a:endParaRPr sz="20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consistent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(always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underestimate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estimate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exact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cost).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Optimality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vs.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Efficiency</a:t>
            </a:r>
            <a:endParaRPr sz="2000">
              <a:latin typeface="Times New Roman"/>
              <a:cs typeface="Times New Roman"/>
            </a:endParaRPr>
          </a:p>
          <a:p>
            <a:pPr marL="507365" indent="-344170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507365" algn="l"/>
              </a:tabLst>
            </a:pPr>
            <a:r>
              <a:rPr dirty="0" sz="2000">
                <a:latin typeface="Times New Roman"/>
                <a:cs typeface="Times New Roman"/>
              </a:rPr>
              <a:t>Informed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often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skill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optimality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efficiency.</a:t>
            </a:r>
            <a:endParaRPr sz="2000">
              <a:latin typeface="Times New Roman"/>
              <a:cs typeface="Times New Roman"/>
            </a:endParaRPr>
          </a:p>
          <a:p>
            <a:pPr marL="507365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507365" algn="l"/>
                <a:tab pos="852169" algn="l"/>
                <a:tab pos="2431415" algn="l"/>
                <a:tab pos="3788410" algn="l"/>
                <a:tab pos="5303520" algn="l"/>
                <a:tab pos="7730490" algn="l"/>
              </a:tabLst>
            </a:pPr>
            <a:r>
              <a:rPr dirty="0" sz="2000" spc="-50">
                <a:latin typeface="Times New Roman"/>
                <a:cs typeface="Times New Roman"/>
              </a:rPr>
              <a:t>A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well-designed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experiential</a:t>
            </a:r>
            <a:r>
              <a:rPr dirty="0" sz="2000">
                <a:latin typeface="Times New Roman"/>
                <a:cs typeface="Times New Roman"/>
              </a:rPr>
              <a:t>	function</a:t>
            </a:r>
            <a:r>
              <a:rPr dirty="0" sz="2000" spc="90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can</a:t>
            </a:r>
            <a:r>
              <a:rPr dirty="0" sz="2000">
                <a:latin typeface="Times New Roman"/>
                <a:cs typeface="Times New Roman"/>
              </a:rPr>
              <a:t>	significantly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improve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efficiency</a:t>
            </a:r>
            <a:endParaRPr sz="20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forgoing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optimality.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7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Representation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5"/>
              <a:t>AI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19456" y="143255"/>
            <a:ext cx="8613140" cy="3614420"/>
            <a:chOff x="219456" y="143255"/>
            <a:chExt cx="8613140" cy="36144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456" y="143255"/>
              <a:ext cx="4053840" cy="10058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891917" y="3017011"/>
              <a:ext cx="5941060" cy="741045"/>
            </a:xfrm>
            <a:custGeom>
              <a:avLst/>
              <a:gdLst/>
              <a:ahLst/>
              <a:cxnLst/>
              <a:rect l="l" t="t" r="r" b="b"/>
              <a:pathLst>
                <a:path w="5941059" h="741045">
                  <a:moveTo>
                    <a:pt x="124968" y="0"/>
                  </a:moveTo>
                  <a:lnTo>
                    <a:pt x="0" y="0"/>
                  </a:lnTo>
                  <a:lnTo>
                    <a:pt x="0" y="283464"/>
                  </a:lnTo>
                  <a:lnTo>
                    <a:pt x="124968" y="283464"/>
                  </a:lnTo>
                  <a:lnTo>
                    <a:pt x="124968" y="0"/>
                  </a:lnTo>
                  <a:close/>
                </a:path>
                <a:path w="5941059" h="741045">
                  <a:moveTo>
                    <a:pt x="3020555" y="0"/>
                  </a:moveTo>
                  <a:lnTo>
                    <a:pt x="3020555" y="0"/>
                  </a:lnTo>
                  <a:lnTo>
                    <a:pt x="1359408" y="0"/>
                  </a:lnTo>
                  <a:lnTo>
                    <a:pt x="1359408" y="283464"/>
                  </a:lnTo>
                  <a:lnTo>
                    <a:pt x="3020555" y="283464"/>
                  </a:lnTo>
                  <a:lnTo>
                    <a:pt x="3020555" y="0"/>
                  </a:lnTo>
                  <a:close/>
                </a:path>
                <a:path w="5941059" h="741045">
                  <a:moveTo>
                    <a:pt x="4309859" y="0"/>
                  </a:moveTo>
                  <a:lnTo>
                    <a:pt x="3142488" y="0"/>
                  </a:lnTo>
                  <a:lnTo>
                    <a:pt x="3020568" y="0"/>
                  </a:lnTo>
                  <a:lnTo>
                    <a:pt x="3020568" y="283464"/>
                  </a:lnTo>
                  <a:lnTo>
                    <a:pt x="3142488" y="283464"/>
                  </a:lnTo>
                  <a:lnTo>
                    <a:pt x="4309859" y="283464"/>
                  </a:lnTo>
                  <a:lnTo>
                    <a:pt x="4309859" y="0"/>
                  </a:lnTo>
                  <a:close/>
                </a:path>
                <a:path w="5941059" h="741045">
                  <a:moveTo>
                    <a:pt x="4379963" y="457200"/>
                  </a:moveTo>
                  <a:lnTo>
                    <a:pt x="4379963" y="457200"/>
                  </a:lnTo>
                  <a:lnTo>
                    <a:pt x="1347216" y="457200"/>
                  </a:lnTo>
                  <a:lnTo>
                    <a:pt x="1347216" y="740664"/>
                  </a:lnTo>
                  <a:lnTo>
                    <a:pt x="4379963" y="740664"/>
                  </a:lnTo>
                  <a:lnTo>
                    <a:pt x="4379963" y="457200"/>
                  </a:lnTo>
                  <a:close/>
                </a:path>
                <a:path w="5941059" h="741045">
                  <a:moveTo>
                    <a:pt x="5629656" y="457200"/>
                  </a:moveTo>
                  <a:lnTo>
                    <a:pt x="5629656" y="457200"/>
                  </a:lnTo>
                  <a:lnTo>
                    <a:pt x="4379976" y="457200"/>
                  </a:lnTo>
                  <a:lnTo>
                    <a:pt x="4379976" y="740664"/>
                  </a:lnTo>
                  <a:lnTo>
                    <a:pt x="5629656" y="740664"/>
                  </a:lnTo>
                  <a:lnTo>
                    <a:pt x="5629656" y="457200"/>
                  </a:lnTo>
                  <a:close/>
                </a:path>
                <a:path w="5941059" h="741045">
                  <a:moveTo>
                    <a:pt x="5940552" y="0"/>
                  </a:moveTo>
                  <a:lnTo>
                    <a:pt x="5940552" y="0"/>
                  </a:lnTo>
                  <a:lnTo>
                    <a:pt x="4309872" y="0"/>
                  </a:lnTo>
                  <a:lnTo>
                    <a:pt x="4309872" y="283464"/>
                  </a:lnTo>
                  <a:lnTo>
                    <a:pt x="5940552" y="283464"/>
                  </a:lnTo>
                  <a:lnTo>
                    <a:pt x="5940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45186" y="1906702"/>
            <a:ext cx="8769985" cy="185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5080" indent="-344805">
              <a:lnSpc>
                <a:spcPct val="150100"/>
              </a:lnSpc>
              <a:spcBef>
                <a:spcPts val="100"/>
              </a:spcBef>
              <a:buClr>
                <a:srgbClr val="000000"/>
              </a:buClr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It</a:t>
            </a:r>
            <a:r>
              <a:rPr dirty="0" sz="2000" spc="15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consists</a:t>
            </a:r>
            <a:r>
              <a:rPr dirty="0" sz="2000" spc="1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of the</a:t>
            </a:r>
            <a:r>
              <a:rPr dirty="0" sz="2000" spc="2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objectives</a:t>
            </a:r>
            <a:r>
              <a:rPr dirty="0" sz="2000" spc="2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that</a:t>
            </a:r>
            <a:r>
              <a:rPr dirty="0" sz="2000" spc="15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are</a:t>
            </a:r>
            <a:r>
              <a:rPr dirty="0" sz="2000" spc="25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used</a:t>
            </a:r>
            <a:r>
              <a:rPr dirty="0" sz="2000" spc="25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to</a:t>
            </a:r>
            <a:r>
              <a:rPr dirty="0" sz="2000" spc="1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express</a:t>
            </a:r>
            <a:r>
              <a:rPr dirty="0" sz="2000" spc="1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the</a:t>
            </a:r>
            <a:r>
              <a:rPr dirty="0" sz="2000" spc="2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knowledge</a:t>
            </a:r>
            <a:r>
              <a:rPr dirty="0" sz="2000" spc="25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that</a:t>
            </a:r>
            <a:r>
              <a:rPr dirty="0" sz="2000" spc="2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is</a:t>
            </a:r>
            <a:r>
              <a:rPr dirty="0" sz="2000" spc="1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40C28"/>
                </a:solidFill>
                <a:latin typeface="Times New Roman"/>
                <a:cs typeface="Times New Roman"/>
              </a:rPr>
              <a:t>required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to</a:t>
            </a:r>
            <a:r>
              <a:rPr dirty="0" sz="2000" spc="-4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solve</a:t>
            </a:r>
            <a:r>
              <a:rPr dirty="0" sz="2000" spc="-5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a</a:t>
            </a:r>
            <a:r>
              <a:rPr dirty="0" sz="2000" spc="-25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40C28"/>
                </a:solidFill>
                <a:latin typeface="Times New Roman"/>
                <a:cs typeface="Times New Roman"/>
              </a:rPr>
              <a:t>specific</a:t>
            </a:r>
            <a:r>
              <a:rPr dirty="0" sz="2000" spc="-20">
                <a:solidFill>
                  <a:srgbClr val="040C28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40C28"/>
                </a:solidFill>
                <a:latin typeface="Times New Roman"/>
                <a:cs typeface="Times New Roman"/>
              </a:rPr>
              <a:t>problem</a:t>
            </a:r>
            <a:r>
              <a:rPr dirty="0" sz="2000" spc="-1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6870" marR="8255" indent="-344805">
              <a:lnSpc>
                <a:spcPts val="3600"/>
              </a:lnSpc>
              <a:spcBef>
                <a:spcPts val="120"/>
              </a:spcBef>
              <a:buClr>
                <a:srgbClr val="000000"/>
              </a:buClr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dirty="0" sz="2000" spc="42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different</a:t>
            </a:r>
            <a:r>
              <a:rPr dirty="0" sz="2000" spc="42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kinds</a:t>
            </a:r>
            <a:r>
              <a:rPr dirty="0" sz="2000" spc="42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dirty="0" sz="2000" spc="42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knowledge</a:t>
            </a:r>
            <a:r>
              <a:rPr dirty="0" sz="2000" spc="43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dirty="0" sz="2000" spc="42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need</a:t>
            </a:r>
            <a:r>
              <a:rPr dirty="0" sz="2000" spc="434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dirty="0" sz="2000" spc="43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be</a:t>
            </a:r>
            <a:r>
              <a:rPr dirty="0" sz="2000" spc="42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represented</a:t>
            </a:r>
            <a:r>
              <a:rPr dirty="0" sz="2000" spc="434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dirty="0" sz="2000" spc="43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AI</a:t>
            </a:r>
            <a:r>
              <a:rPr dirty="0" sz="2000" spc="42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023"/>
                </a:solidFill>
                <a:latin typeface="Times New Roman"/>
                <a:cs typeface="Times New Roman"/>
              </a:rPr>
              <a:t>systems.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include:</a:t>
            </a:r>
            <a:r>
              <a:rPr dirty="0" sz="2000" spc="-1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Objects:</a:t>
            </a:r>
            <a:r>
              <a:rPr dirty="0" sz="2000" spc="-7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All</a:t>
            </a:r>
            <a:r>
              <a:rPr dirty="0" sz="2000" spc="1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information related</a:t>
            </a:r>
            <a:r>
              <a:rPr dirty="0" sz="2000" spc="-3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dirty="0" sz="2000" spc="-4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objects</a:t>
            </a:r>
            <a:r>
              <a:rPr dirty="0" sz="2000" spc="-8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present</a:t>
            </a:r>
            <a:r>
              <a:rPr dirty="0" sz="2000" spc="-2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dirty="0" sz="2000" spc="-4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1F2023"/>
                </a:solidFill>
                <a:latin typeface="Times New Roman"/>
                <a:cs typeface="Times New Roman"/>
              </a:rPr>
              <a:t>our</a:t>
            </a:r>
            <a:r>
              <a:rPr dirty="0" sz="2000" spc="-25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1F2023"/>
                </a:solidFill>
                <a:latin typeface="Times New Roman"/>
                <a:cs typeface="Times New Roman"/>
              </a:rPr>
              <a:t>world.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1662"/>
            <a:ext cx="9144000" cy="6675120"/>
            <a:chOff x="0" y="91662"/>
            <a:chExt cx="9144000" cy="6675120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662"/>
              <a:ext cx="9144000" cy="6674673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9679" y="2450592"/>
              <a:ext cx="4008120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7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143255"/>
            <a:ext cx="4273550" cy="5709285"/>
            <a:chOff x="0" y="143255"/>
            <a:chExt cx="4273550" cy="570928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456" y="143255"/>
              <a:ext cx="4053840" cy="1005840"/>
            </a:xfrm>
            <a:prstGeom prst="rect">
              <a:avLst/>
            </a:prstGeom>
          </p:spPr>
        </p:pic>
        <p:pic>
          <p:nvPicPr>
            <p:cNvPr id="9" name="object 9" descr="AI Techniques of Knowledge Representation - Javatpoint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179320"/>
              <a:ext cx="3517391" cy="367284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452876" y="1972969"/>
            <a:ext cx="5519420" cy="425767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67640" indent="-155575">
              <a:lnSpc>
                <a:spcPct val="100000"/>
              </a:lnSpc>
              <a:spcBef>
                <a:spcPts val="910"/>
              </a:spcBef>
              <a:buSzPct val="93750"/>
              <a:buAutoNum type="arabicPeriod"/>
              <a:tabLst>
                <a:tab pos="167640" algn="l"/>
              </a:tabLst>
            </a:pPr>
            <a:r>
              <a:rPr dirty="0" sz="1600" b="1">
                <a:latin typeface="Times New Roman"/>
                <a:cs typeface="Times New Roman"/>
              </a:rPr>
              <a:t>Logical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Representation:</a:t>
            </a:r>
            <a:endParaRPr sz="16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Drawing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conclusion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various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conditions.</a:t>
            </a:r>
            <a:endParaRPr sz="16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5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machines</a:t>
            </a:r>
            <a:r>
              <a:rPr dirty="0" sz="1600" spc="5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5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capacity</a:t>
            </a:r>
            <a:r>
              <a:rPr dirty="0" sz="1600" spc="4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4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representing</a:t>
            </a:r>
            <a:r>
              <a:rPr dirty="0" sz="1600" spc="49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their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world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logical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reasoning.</a:t>
            </a:r>
            <a:endParaRPr sz="16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Statements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propositional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logic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either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True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false.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00" b="1">
                <a:latin typeface="Times New Roman"/>
                <a:cs typeface="Times New Roman"/>
              </a:rPr>
              <a:t>2.Semantic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Networks:</a:t>
            </a:r>
            <a:endParaRPr sz="1600">
              <a:latin typeface="Times New Roman"/>
              <a:cs typeface="Times New Roman"/>
            </a:endParaRPr>
          </a:p>
          <a:p>
            <a:pPr algn="just" marL="299085" marR="5715" indent="-287020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graphical</a:t>
            </a:r>
            <a:r>
              <a:rPr dirty="0" sz="1600" spc="1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structures</a:t>
            </a:r>
            <a:r>
              <a:rPr dirty="0" sz="1600" spc="1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designed</a:t>
            </a:r>
            <a:r>
              <a:rPr dirty="0" sz="1600" spc="1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represent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1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organize </a:t>
            </a:r>
            <a:r>
              <a:rPr dirty="0" sz="1600">
                <a:latin typeface="Times New Roman"/>
                <a:cs typeface="Times New Roman"/>
              </a:rPr>
              <a:t>knowledge,</a:t>
            </a:r>
            <a:r>
              <a:rPr dirty="0" sz="1600" spc="14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enabling</a:t>
            </a:r>
            <a:r>
              <a:rPr dirty="0" sz="1600" spc="12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machines</a:t>
            </a:r>
            <a:r>
              <a:rPr dirty="0" sz="1600" spc="13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14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understand</a:t>
            </a:r>
            <a:r>
              <a:rPr dirty="0" sz="1600" spc="12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125">
                <a:latin typeface="Times New Roman"/>
                <a:cs typeface="Times New Roman"/>
              </a:rPr>
              <a:t>  </a:t>
            </a:r>
            <a:r>
              <a:rPr dirty="0" sz="1600" spc="-10">
                <a:latin typeface="Times New Roman"/>
                <a:cs typeface="Times New Roman"/>
              </a:rPr>
              <a:t>process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human-readable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form.</a:t>
            </a:r>
            <a:endParaRPr sz="16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words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sentences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those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details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perform tasks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or</a:t>
            </a:r>
            <a:endParaRPr sz="1600">
              <a:latin typeface="Times New Roman"/>
              <a:cs typeface="Times New Roman"/>
            </a:endParaRPr>
          </a:p>
          <a:p>
            <a:pPr algn="just" marL="29908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provide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users.</a:t>
            </a:r>
            <a:endParaRPr sz="16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26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example,</a:t>
            </a:r>
            <a:r>
              <a:rPr dirty="0" sz="1600" spc="26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27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semantic</a:t>
            </a:r>
            <a:r>
              <a:rPr dirty="0" sz="1600" spc="26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23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26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260">
                <a:latin typeface="Times New Roman"/>
                <a:cs typeface="Times New Roman"/>
              </a:rPr>
              <a:t>  </a:t>
            </a:r>
            <a:r>
              <a:rPr dirty="0" sz="1600" spc="-10">
                <a:latin typeface="Times New Roman"/>
                <a:cs typeface="Times New Roman"/>
              </a:rPr>
              <a:t>automatically </a:t>
            </a:r>
            <a:r>
              <a:rPr dirty="0" sz="1600">
                <a:latin typeface="Times New Roman"/>
                <a:cs typeface="Times New Roman"/>
              </a:rPr>
              <a:t>summarize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news</a:t>
            </a:r>
            <a:r>
              <a:rPr dirty="0" sz="1600" spc="2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article,</a:t>
            </a:r>
            <a:r>
              <a:rPr dirty="0" sz="1600" spc="2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answer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questions,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2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translate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text </a:t>
            </a:r>
            <a:r>
              <a:rPr dirty="0" sz="1600">
                <a:latin typeface="Times New Roman"/>
                <a:cs typeface="Times New Roman"/>
              </a:rPr>
              <a:t>from one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language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another.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7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374" y="1896821"/>
            <a:ext cx="8897620" cy="4514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40665" algn="l"/>
              </a:tabLst>
            </a:pPr>
            <a:r>
              <a:rPr dirty="0" sz="1800" b="1">
                <a:latin typeface="Times New Roman"/>
                <a:cs typeface="Times New Roman"/>
              </a:rPr>
              <a:t>Production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Rules</a:t>
            </a:r>
            <a:endParaRPr sz="1800">
              <a:latin typeface="Times New Roman"/>
              <a:cs typeface="Times New Roman"/>
            </a:endParaRPr>
          </a:p>
          <a:p>
            <a:pPr lvl="1" marL="299085" marR="5080" indent="-287020">
              <a:lnSpc>
                <a:spcPct val="150100"/>
              </a:lnSpc>
              <a:spcBef>
                <a:spcPts val="82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Production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rules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group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rules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apply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information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collected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global database.</a:t>
            </a:r>
            <a:endParaRPr sz="1800">
              <a:latin typeface="Times New Roman"/>
              <a:cs typeface="Times New Roman"/>
            </a:endParaRPr>
          </a:p>
          <a:p>
            <a:pPr lvl="1" marL="356870" indent="-344170">
              <a:lnSpc>
                <a:spcPct val="100000"/>
              </a:lnSpc>
              <a:spcBef>
                <a:spcPts val="187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rule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precondition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postcondition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global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database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must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either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fulfill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depending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 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rule.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870"/>
              </a:spcBef>
              <a:buAutoNum type="arabicPeriod" startAt="4"/>
              <a:tabLst>
                <a:tab pos="240665" algn="l"/>
              </a:tabLst>
            </a:pPr>
            <a:r>
              <a:rPr dirty="0" sz="1800" b="1">
                <a:latin typeface="Times New Roman"/>
                <a:cs typeface="Times New Roman"/>
              </a:rPr>
              <a:t>Frames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Representation</a:t>
            </a:r>
            <a:endParaRPr sz="18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1900"/>
              </a:spcBef>
              <a:buFont typeface="Wingdings"/>
              <a:buChar char=""/>
              <a:tabLst>
                <a:tab pos="299085" algn="l"/>
                <a:tab pos="3924300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frame-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expert</a:t>
            </a:r>
            <a:r>
              <a:rPr dirty="0" sz="1800" spc="4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4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</a:t>
            </a:r>
            <a:r>
              <a:rPr dirty="0" sz="1800">
                <a:latin typeface="Times New Roman"/>
                <a:cs typeface="Times New Roman"/>
              </a:rPr>
              <a:t>	(AI)</a:t>
            </a:r>
            <a:r>
              <a:rPr dirty="0" sz="1800" spc="3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program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3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uses</a:t>
            </a:r>
            <a:r>
              <a:rPr dirty="0" sz="1800" spc="3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knowledge</a:t>
            </a:r>
            <a:r>
              <a:rPr dirty="0" sz="1800" spc="3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representation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technique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store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reason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facts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about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world.</a:t>
            </a:r>
            <a:endParaRPr sz="1800">
              <a:latin typeface="Times New Roman"/>
              <a:cs typeface="Times New Roman"/>
            </a:endParaRPr>
          </a:p>
          <a:p>
            <a:pPr lvl="1" marL="299085" marR="5080" indent="-287020">
              <a:lnSpc>
                <a:spcPct val="150100"/>
              </a:lnSpc>
              <a:spcBef>
                <a:spcPts val="79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It works on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basis of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frames,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which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structures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designed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capture relevant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information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particular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domain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such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medicine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business.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0783" y="2718815"/>
              <a:ext cx="5431536" cy="28011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435607"/>
              <a:ext cx="9110980" cy="643255"/>
            </a:xfrm>
            <a:custGeom>
              <a:avLst/>
              <a:gdLst/>
              <a:ahLst/>
              <a:cxnLst/>
              <a:rect l="l" t="t" r="r" b="b"/>
              <a:pathLst>
                <a:path w="9110980" h="643255">
                  <a:moveTo>
                    <a:pt x="91104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10472" y="643127"/>
                  </a:lnTo>
                  <a:lnTo>
                    <a:pt x="9110472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602" y="1552702"/>
            <a:ext cx="47821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Properties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internal</a:t>
            </a:r>
            <a:r>
              <a:rPr dirty="0" spc="-50"/>
              <a:t> </a:t>
            </a:r>
            <a:r>
              <a:rPr dirty="0" spc="-10"/>
              <a:t>representation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465576" cy="9662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7670" y="1873917"/>
            <a:ext cx="8609965" cy="477710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algn="just" marL="356870" indent="-344170">
              <a:lnSpc>
                <a:spcPct val="100000"/>
              </a:lnSpc>
              <a:spcBef>
                <a:spcPts val="129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Internal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representation,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known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AI,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refers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 is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within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10">
                <a:latin typeface="Times New Roman"/>
                <a:cs typeface="Times New Roman"/>
              </a:rPr>
              <a:t> system.</a:t>
            </a:r>
            <a:endParaRPr sz="2000">
              <a:latin typeface="Times New Roman"/>
              <a:cs typeface="Times New Roman"/>
            </a:endParaRPr>
          </a:p>
          <a:p>
            <a:pPr algn="just" marL="356870" indent="-34417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reason,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problems.</a:t>
            </a:r>
            <a:endParaRPr sz="2000">
              <a:latin typeface="Times New Roman"/>
              <a:cs typeface="Times New Roman"/>
            </a:endParaRPr>
          </a:p>
          <a:p>
            <a:pPr algn="just"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Here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some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properties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good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internal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AI:</a:t>
            </a:r>
            <a:endParaRPr sz="2000">
              <a:latin typeface="Times New Roman"/>
              <a:cs typeface="Times New Roman"/>
            </a:endParaRPr>
          </a:p>
          <a:p>
            <a:pPr algn="just" marL="356870" marR="191770" indent="-344805">
              <a:lnSpc>
                <a:spcPct val="150100"/>
              </a:lnSpc>
              <a:spcBef>
                <a:spcPts val="1400"/>
              </a:spcBef>
              <a:buAutoNum type="arabicPeriod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Representational</a:t>
            </a:r>
            <a:r>
              <a:rPr dirty="0" sz="2000" spc="1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Capability:</a:t>
            </a:r>
            <a:r>
              <a:rPr dirty="0" sz="2000" spc="1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should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able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necessary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domain.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capture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essential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elements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relationships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them.</a:t>
            </a:r>
            <a:endParaRPr sz="2000">
              <a:latin typeface="Times New Roman"/>
              <a:cs typeface="Times New Roman"/>
            </a:endParaRPr>
          </a:p>
          <a:p>
            <a:pPr algn="just" marL="356870" marR="199390" indent="-344805">
              <a:lnSpc>
                <a:spcPct val="150000"/>
              </a:lnSpc>
              <a:buFont typeface="Times New Roman"/>
              <a:buAutoNum type="arabicPeriod"/>
              <a:tabLst>
                <a:tab pos="356870" algn="l"/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Inferential</a:t>
            </a:r>
            <a:r>
              <a:rPr dirty="0" sz="2000" spc="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Capability: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should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manipulate </a:t>
            </a: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derive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knowledge.</a:t>
            </a:r>
            <a:r>
              <a:rPr dirty="0" sz="2000" spc="2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enables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reasoning,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logic,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predictions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10472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95400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456" y="143255"/>
              <a:ext cx="3636264" cy="93573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8739" y="1413128"/>
            <a:ext cx="8799830" cy="3891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Cont….</a:t>
            </a:r>
            <a:endParaRPr sz="2400">
              <a:latin typeface="Times New Roman"/>
              <a:cs typeface="Times New Roman"/>
            </a:endParaRPr>
          </a:p>
          <a:p>
            <a:pPr algn="just" marL="203200" marR="8890" indent="368300">
              <a:lnSpc>
                <a:spcPct val="150100"/>
              </a:lnSpc>
              <a:spcBef>
                <a:spcPts val="1620"/>
              </a:spcBef>
              <a:buSzPct val="83333"/>
              <a:buAutoNum type="arabicPeriod" startAt="3"/>
              <a:tabLst>
                <a:tab pos="571500" algn="l"/>
              </a:tabLst>
            </a:pPr>
            <a:r>
              <a:rPr dirty="0" sz="2400" b="1">
                <a:latin typeface="Times New Roman"/>
                <a:cs typeface="Times New Roman"/>
              </a:rPr>
              <a:t>Inferential</a:t>
            </a:r>
            <a:r>
              <a:rPr dirty="0" sz="2400" spc="18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Efficiency:</a:t>
            </a:r>
            <a:r>
              <a:rPr dirty="0" sz="2400" spc="170" b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7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1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1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facilitate</a:t>
            </a:r>
            <a:r>
              <a:rPr dirty="0" sz="2400" spc="17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efficient </a:t>
            </a:r>
            <a:r>
              <a:rPr dirty="0" sz="2400">
                <a:latin typeface="Times New Roman"/>
                <a:cs typeface="Times New Roman"/>
              </a:rPr>
              <a:t>reasoning</a:t>
            </a:r>
            <a:r>
              <a:rPr dirty="0" sz="2400" spc="4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manipulation</a:t>
            </a:r>
            <a:r>
              <a:rPr dirty="0" sz="2400" spc="4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45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knowledge.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4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means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4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can </a:t>
            </a:r>
            <a:r>
              <a:rPr dirty="0" sz="2400">
                <a:latin typeface="Times New Roman"/>
                <a:cs typeface="Times New Roman"/>
              </a:rPr>
              <a:t>save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relevant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information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quickly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solve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problems.</a:t>
            </a:r>
            <a:endParaRPr sz="2400">
              <a:latin typeface="Times New Roman"/>
              <a:cs typeface="Times New Roman"/>
            </a:endParaRPr>
          </a:p>
          <a:p>
            <a:pPr algn="just" marL="203200" marR="5080" indent="356235">
              <a:lnSpc>
                <a:spcPct val="150100"/>
              </a:lnSpc>
              <a:buAutoNum type="arabicPeriod" startAt="3"/>
              <a:tabLst>
                <a:tab pos="559435" algn="l"/>
              </a:tabLst>
            </a:pPr>
            <a:r>
              <a:rPr dirty="0" sz="2400" b="1">
                <a:latin typeface="Times New Roman"/>
                <a:cs typeface="Times New Roman"/>
              </a:rPr>
              <a:t>Acquisitional</a:t>
            </a:r>
            <a:r>
              <a:rPr dirty="0" sz="2400" spc="3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Efficiency:</a:t>
            </a:r>
            <a:r>
              <a:rPr dirty="0" sz="2400" spc="36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knowledge</a:t>
            </a:r>
            <a:r>
              <a:rPr dirty="0" sz="2400" spc="3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representation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scheme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allow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easy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acquisition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new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knowledge.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makes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easy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going 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learn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 new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95400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761232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97891" y="2145824"/>
            <a:ext cx="8426450" cy="3989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255">
              <a:lnSpc>
                <a:spcPct val="150000"/>
              </a:lnSpc>
              <a:spcBef>
                <a:spcPts val="95"/>
              </a:spcBef>
            </a:pPr>
            <a:r>
              <a:rPr dirty="0" sz="2000" b="1">
                <a:latin typeface="Times New Roman"/>
                <a:cs typeface="Times New Roman"/>
              </a:rPr>
              <a:t>5.</a:t>
            </a:r>
            <a:r>
              <a:rPr dirty="0" sz="2000" spc="3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Descriptive</a:t>
            </a:r>
            <a:r>
              <a:rPr dirty="0" sz="2000" spc="3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Power:</a:t>
            </a:r>
            <a:r>
              <a:rPr dirty="0" sz="2000" spc="30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Ideally,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internal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should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somewhat </a:t>
            </a:r>
            <a:r>
              <a:rPr dirty="0" sz="2000">
                <a:latin typeface="Times New Roman"/>
                <a:cs typeface="Times New Roman"/>
              </a:rPr>
              <a:t>understandable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humans.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allows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explain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AI's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reasoning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process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biases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errors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logic.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50100"/>
              </a:lnSpc>
            </a:pP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properties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essential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building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effective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systems.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choice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 </a:t>
            </a:r>
            <a:r>
              <a:rPr dirty="0" sz="2000">
                <a:latin typeface="Times New Roman"/>
                <a:cs typeface="Times New Roman"/>
              </a:rPr>
              <a:t>representation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depends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type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knowledge </a:t>
            </a:r>
            <a:r>
              <a:rPr dirty="0" sz="2000">
                <a:latin typeface="Times New Roman"/>
                <a:cs typeface="Times New Roman"/>
              </a:rPr>
              <a:t>being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distributed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with.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Some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common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internal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techniques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include </a:t>
            </a:r>
            <a:r>
              <a:rPr dirty="0" sz="2000">
                <a:latin typeface="Times New Roman"/>
                <a:cs typeface="Times New Roman"/>
              </a:rPr>
              <a:t>logic</a:t>
            </a:r>
            <a:r>
              <a:rPr dirty="0" sz="2000" spc="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statements,</a:t>
            </a:r>
            <a:r>
              <a:rPr dirty="0" sz="2000" spc="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networks,</a:t>
            </a:r>
            <a:r>
              <a:rPr dirty="0" sz="2000" spc="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probabilistic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models,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deep</a:t>
            </a:r>
            <a:r>
              <a:rPr dirty="0" sz="2000" spc="4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learning architectures.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sp>
          <p:nvSpPr>
            <p:cNvPr id="3" name="object 3"/>
            <p:cNvSpPr/>
            <p:nvPr/>
          </p:nvSpPr>
          <p:spPr>
            <a:xfrm>
              <a:off x="0" y="1295400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" y="143255"/>
              <a:ext cx="3825240" cy="100584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8739" y="1413128"/>
            <a:ext cx="8613140" cy="2793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Scope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50100"/>
              </a:lnSpc>
              <a:spcBef>
                <a:spcPts val="1620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future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scope</a:t>
            </a:r>
            <a:r>
              <a:rPr dirty="0" sz="2400" spc="3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3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artificial</a:t>
            </a:r>
            <a:r>
              <a:rPr dirty="0" sz="2400" spc="3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intelligence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(AI)</a:t>
            </a:r>
            <a:r>
              <a:rPr dirty="0" sz="2400" spc="3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3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vast</a:t>
            </a:r>
            <a:r>
              <a:rPr dirty="0" sz="2400" spc="3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3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holds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>
                <a:latin typeface="Times New Roman"/>
                <a:cs typeface="Times New Roman"/>
              </a:rPr>
              <a:t>potential</a:t>
            </a:r>
            <a:r>
              <a:rPr dirty="0" sz="2400" spc="2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transform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various</a:t>
            </a:r>
            <a:r>
              <a:rPr dirty="0" sz="2400" spc="2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aspects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society,</a:t>
            </a:r>
            <a:r>
              <a:rPr dirty="0" sz="2400" spc="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industry,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daily life.</a:t>
            </a:r>
            <a:endParaRPr sz="2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45"/>
              </a:spcBef>
            </a:pPr>
            <a:r>
              <a:rPr dirty="0" sz="2400">
                <a:latin typeface="Times New Roman"/>
                <a:cs typeface="Times New Roman"/>
              </a:rPr>
              <a:t>Here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some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areas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0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182" y="1960348"/>
            <a:ext cx="8827135" cy="3203575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400" spc="-10" b="1">
                <a:latin typeface="Times New Roman"/>
                <a:cs typeface="Times New Roman"/>
              </a:rPr>
              <a:t>Healthcare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Personalized</a:t>
            </a:r>
            <a:r>
              <a:rPr dirty="0" sz="2000" spc="2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Medicine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genetic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information,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lifestyle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data,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medical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records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modify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treatments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individual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patients.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Early</a:t>
            </a:r>
            <a:r>
              <a:rPr dirty="0" sz="2000" spc="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Diagnosis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diseases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early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analyzing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medical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images, genetic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biomarkers.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Drug</a:t>
            </a:r>
            <a:r>
              <a:rPr dirty="0" sz="2000" spc="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Discovery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speed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discovering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drugs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predicting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compounds will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interact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targets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body.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sp>
          <p:nvSpPr>
            <p:cNvPr id="3" name="object 3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" y="143255"/>
              <a:ext cx="3825240" cy="100584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8739" y="1289050"/>
            <a:ext cx="8785225" cy="4409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" marR="6732905" indent="-34925">
              <a:lnSpc>
                <a:spcPct val="158300"/>
              </a:lnSpc>
              <a:spcBef>
                <a:spcPts val="9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Cont….. </a:t>
            </a:r>
            <a:r>
              <a:rPr dirty="0" sz="2400" spc="-10" b="1">
                <a:latin typeface="Times New Roman"/>
                <a:cs typeface="Times New Roman"/>
              </a:rPr>
              <a:t>Transportation</a:t>
            </a:r>
            <a:endParaRPr sz="2400">
              <a:latin typeface="Times New Roman"/>
              <a:cs typeface="Times New Roman"/>
            </a:endParaRPr>
          </a:p>
          <a:p>
            <a:pPr marL="391160" indent="-344170">
              <a:lnSpc>
                <a:spcPct val="100000"/>
              </a:lnSpc>
              <a:spcBef>
                <a:spcPts val="915"/>
              </a:spcBef>
              <a:buFont typeface="Wingdings"/>
              <a:buChar char=""/>
              <a:tabLst>
                <a:tab pos="391160" algn="l"/>
              </a:tabLst>
            </a:pPr>
            <a:r>
              <a:rPr dirty="0" sz="2400" b="1">
                <a:latin typeface="Times New Roman"/>
                <a:cs typeface="Times New Roman"/>
              </a:rPr>
              <a:t>Autonomous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Vehicles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Continued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advancements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will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enhance</a:t>
            </a:r>
            <a:endParaRPr sz="2400">
              <a:latin typeface="Times New Roman"/>
              <a:cs typeface="Times New Roman"/>
            </a:endParaRPr>
          </a:p>
          <a:p>
            <a:pPr marL="391160" marR="22860">
              <a:lnSpc>
                <a:spcPct val="150100"/>
              </a:lnSpc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safety,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efficiency,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occurrence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self-</a:t>
            </a:r>
            <a:r>
              <a:rPr dirty="0" sz="2400">
                <a:latin typeface="Times New Roman"/>
                <a:cs typeface="Times New Roman"/>
              </a:rPr>
              <a:t>driving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cars,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buses,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 spc="-10">
                <a:latin typeface="Times New Roman"/>
                <a:cs typeface="Times New Roman"/>
              </a:rPr>
              <a:t>drones.</a:t>
            </a:r>
            <a:endParaRPr sz="2400">
              <a:latin typeface="Times New Roman"/>
              <a:cs typeface="Times New Roman"/>
            </a:endParaRPr>
          </a:p>
          <a:p>
            <a:pPr marL="391160" marR="296545" indent="-344805">
              <a:lnSpc>
                <a:spcPct val="150100"/>
              </a:lnSpc>
              <a:buFont typeface="Wingdings"/>
              <a:buChar char=""/>
              <a:tabLst>
                <a:tab pos="391160" algn="l"/>
              </a:tabLst>
            </a:pPr>
            <a:r>
              <a:rPr dirty="0" sz="2400" b="1">
                <a:latin typeface="Times New Roman"/>
                <a:cs typeface="Times New Roman"/>
              </a:rPr>
              <a:t>Traffic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Management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optimize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traffic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flow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cities, </a:t>
            </a:r>
            <a:r>
              <a:rPr dirty="0" sz="2400">
                <a:latin typeface="Times New Roman"/>
                <a:cs typeface="Times New Roman"/>
              </a:rPr>
              <a:t>reducing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overcrowding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productions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traffic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lights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traffic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patterns.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sp>
          <p:nvSpPr>
            <p:cNvPr id="3" name="object 3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" y="143255"/>
              <a:ext cx="3825240" cy="100584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8739" y="1289050"/>
            <a:ext cx="8655685" cy="4409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" marR="7260590" indent="-34925">
              <a:lnSpc>
                <a:spcPct val="158300"/>
              </a:lnSpc>
              <a:spcBef>
                <a:spcPts val="9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Cont….. </a:t>
            </a:r>
            <a:r>
              <a:rPr dirty="0" sz="2400" spc="-10" b="1">
                <a:latin typeface="Times New Roman"/>
                <a:cs typeface="Times New Roman"/>
              </a:rPr>
              <a:t>Education</a:t>
            </a:r>
            <a:endParaRPr sz="2400">
              <a:latin typeface="Times New Roman"/>
              <a:cs typeface="Times New Roman"/>
            </a:endParaRPr>
          </a:p>
          <a:p>
            <a:pPr marL="391160" indent="-344170">
              <a:lnSpc>
                <a:spcPct val="100000"/>
              </a:lnSpc>
              <a:spcBef>
                <a:spcPts val="915"/>
              </a:spcBef>
              <a:buFont typeface="Wingdings"/>
              <a:buChar char=""/>
              <a:tabLst>
                <a:tab pos="391160" algn="l"/>
              </a:tabLst>
            </a:pPr>
            <a:r>
              <a:rPr dirty="0" sz="2400" b="1">
                <a:latin typeface="Times New Roman"/>
                <a:cs typeface="Times New Roman"/>
              </a:rPr>
              <a:t>Personalized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Learning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40">
                <a:latin typeface="Times New Roman"/>
                <a:cs typeface="Times New Roman"/>
              </a:rPr>
              <a:t>AI-</a:t>
            </a:r>
            <a:r>
              <a:rPr dirty="0" sz="2400">
                <a:latin typeface="Times New Roman"/>
                <a:cs typeface="Times New Roman"/>
              </a:rPr>
              <a:t>driven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educational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platforms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adapt</a:t>
            </a:r>
            <a:endParaRPr sz="2400">
              <a:latin typeface="Times New Roman"/>
              <a:cs typeface="Times New Roman"/>
            </a:endParaRPr>
          </a:p>
          <a:p>
            <a:pPr marL="391160" marR="408940">
              <a:lnSpc>
                <a:spcPct val="150100"/>
              </a:lnSpc>
            </a:pP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learning styles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paces 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individual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students,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providing </a:t>
            </a:r>
            <a:r>
              <a:rPr dirty="0" sz="2400">
                <a:latin typeface="Times New Roman"/>
                <a:cs typeface="Times New Roman"/>
              </a:rPr>
              <a:t>customized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resources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feedback.</a:t>
            </a:r>
            <a:endParaRPr sz="2400">
              <a:latin typeface="Times New Roman"/>
              <a:cs typeface="Times New Roman"/>
            </a:endParaRPr>
          </a:p>
          <a:p>
            <a:pPr algn="just" marL="389890" marR="210185" indent="-343535">
              <a:lnSpc>
                <a:spcPct val="150100"/>
              </a:lnSpc>
              <a:buFont typeface="Wingdings"/>
              <a:buChar char=""/>
              <a:tabLst>
                <a:tab pos="391160" algn="l"/>
              </a:tabLst>
            </a:pPr>
            <a:r>
              <a:rPr dirty="0" sz="2400" b="1">
                <a:latin typeface="Times New Roman"/>
                <a:cs typeface="Times New Roman"/>
              </a:rPr>
              <a:t>Administrative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Automation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handle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administrative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tasks,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such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categorizing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scheduling,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liberation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educators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focus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more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 </a:t>
            </a:r>
            <a:r>
              <a:rPr dirty="0" sz="2400" spc="-10">
                <a:latin typeface="Times New Roman"/>
                <a:cs typeface="Times New Roman"/>
              </a:rPr>
              <a:t>teaching.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sp>
          <p:nvSpPr>
            <p:cNvPr id="3" name="object 3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" y="143255"/>
              <a:ext cx="3825240" cy="100584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8739" y="1289050"/>
            <a:ext cx="8863965" cy="4958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" marR="7742555" indent="-34925">
              <a:lnSpc>
                <a:spcPct val="158300"/>
              </a:lnSpc>
              <a:spcBef>
                <a:spcPts val="9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Cont….. </a:t>
            </a:r>
            <a:r>
              <a:rPr dirty="0" sz="2400" spc="-10" b="1">
                <a:latin typeface="Times New Roman"/>
                <a:cs typeface="Times New Roman"/>
              </a:rPr>
              <a:t>Finance</a:t>
            </a:r>
            <a:endParaRPr sz="2400">
              <a:latin typeface="Times New Roman"/>
              <a:cs typeface="Times New Roman"/>
            </a:endParaRPr>
          </a:p>
          <a:p>
            <a:pPr marL="391160" indent="-344170">
              <a:lnSpc>
                <a:spcPct val="100000"/>
              </a:lnSpc>
              <a:spcBef>
                <a:spcPts val="915"/>
              </a:spcBef>
              <a:buFont typeface="Wingdings"/>
              <a:buChar char=""/>
              <a:tabLst>
                <a:tab pos="391160" algn="l"/>
              </a:tabLst>
            </a:pPr>
            <a:r>
              <a:rPr dirty="0" sz="2400" b="1">
                <a:latin typeface="Times New Roman"/>
                <a:cs typeface="Times New Roman"/>
              </a:rPr>
              <a:t>Fraud</a:t>
            </a:r>
            <a:r>
              <a:rPr dirty="0" sz="2400" spc="3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Detection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algorithms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3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identify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unusual</a:t>
            </a:r>
            <a:r>
              <a:rPr dirty="0" sz="2400" spc="3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patterns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algn="just" marL="39116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Times New Roman"/>
                <a:cs typeface="Times New Roman"/>
              </a:rPr>
              <a:t>behaviors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indicate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fake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activities.</a:t>
            </a:r>
            <a:endParaRPr sz="2400">
              <a:latin typeface="Times New Roman"/>
              <a:cs typeface="Times New Roman"/>
            </a:endParaRPr>
          </a:p>
          <a:p>
            <a:pPr algn="just" marL="389890" marR="5715" indent="-343535">
              <a:lnSpc>
                <a:spcPct val="150100"/>
              </a:lnSpc>
              <a:buFont typeface="Wingdings"/>
              <a:buChar char=""/>
              <a:tabLst>
                <a:tab pos="391160" algn="l"/>
              </a:tabLst>
            </a:pPr>
            <a:r>
              <a:rPr dirty="0" sz="2400" b="1">
                <a:latin typeface="Times New Roman"/>
                <a:cs typeface="Times New Roman"/>
              </a:rPr>
              <a:t>Algorithmic Trading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analyze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vast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amounts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financial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make</a:t>
            </a:r>
            <a:r>
              <a:rPr dirty="0" sz="2400" spc="3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trading</a:t>
            </a:r>
            <a:r>
              <a:rPr dirty="0" sz="2400" spc="3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decisions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speeds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3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accuracies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beyond</a:t>
            </a:r>
            <a:r>
              <a:rPr dirty="0" sz="2400" spc="3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human 	capabilities.</a:t>
            </a:r>
            <a:endParaRPr sz="2400">
              <a:latin typeface="Times New Roman"/>
              <a:cs typeface="Times New Roman"/>
            </a:endParaRPr>
          </a:p>
          <a:p>
            <a:pPr algn="just" marL="389890" marR="5080" indent="-343535">
              <a:lnSpc>
                <a:spcPct val="150000"/>
              </a:lnSpc>
              <a:spcBef>
                <a:spcPts val="5"/>
              </a:spcBef>
              <a:buFont typeface="Wingdings"/>
              <a:buChar char=""/>
              <a:tabLst>
                <a:tab pos="391160" algn="l"/>
              </a:tabLst>
            </a:pPr>
            <a:r>
              <a:rPr dirty="0" sz="2400" b="1">
                <a:latin typeface="Times New Roman"/>
                <a:cs typeface="Times New Roman"/>
              </a:rPr>
              <a:t>Personal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Finance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Management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30">
                <a:latin typeface="Times New Roman"/>
                <a:cs typeface="Times New Roman"/>
              </a:rPr>
              <a:t>AI-</a:t>
            </a:r>
            <a:r>
              <a:rPr dirty="0" sz="2400">
                <a:latin typeface="Times New Roman"/>
                <a:cs typeface="Times New Roman"/>
              </a:rPr>
              <a:t>driven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applications 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provide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personalized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advice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planning, saving, 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investing.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0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207" y="143255"/>
            <a:ext cx="3904488" cy="9814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182" y="1960348"/>
            <a:ext cx="8460105" cy="3203575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400" spc="-10" b="1">
                <a:latin typeface="Times New Roman"/>
                <a:cs typeface="Times New Roman"/>
              </a:rPr>
              <a:t>Manufacturing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Predictive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Maintenance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equipment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failures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before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occur,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reducing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downtime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maintenance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costs.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Quality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Control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defects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products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at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various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stages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manufacturing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process,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quality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outputs.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Supply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Chain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Optimization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optimize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chains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predicting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demand,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managing list,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most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logistics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ways.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739" y="1502155"/>
            <a:ext cx="11264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739" y="1819105"/>
            <a:ext cx="8831580" cy="3932554"/>
          </a:xfrm>
          <a:prstGeom prst="rect">
            <a:avLst/>
          </a:prstGeom>
        </p:spPr>
        <p:txBody>
          <a:bodyPr wrap="square" lIns="0" tIns="265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0"/>
              </a:spcBef>
            </a:pPr>
            <a:r>
              <a:rPr dirty="0" sz="2800" b="1">
                <a:latin typeface="Times New Roman"/>
                <a:cs typeface="Times New Roman"/>
              </a:rPr>
              <a:t>Environmental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Protection</a:t>
            </a:r>
            <a:endParaRPr sz="2800">
              <a:latin typeface="Times New Roman"/>
              <a:cs typeface="Times New Roman"/>
            </a:endParaRPr>
          </a:p>
          <a:p>
            <a:pPr algn="just" marL="356870" marR="5080" indent="-344805">
              <a:lnSpc>
                <a:spcPct val="150100"/>
              </a:lnSpc>
              <a:spcBef>
                <a:spcPts val="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Climate</a:t>
            </a:r>
            <a:r>
              <a:rPr dirty="0" sz="2000" spc="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Modeling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climate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analyzing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vast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amounts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 </a:t>
            </a:r>
            <a:r>
              <a:rPr dirty="0" sz="2000">
                <a:latin typeface="Times New Roman"/>
                <a:cs typeface="Times New Roman"/>
              </a:rPr>
              <a:t>environmental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data,  leading  to  better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predictions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  strategies</a:t>
            </a:r>
            <a:r>
              <a:rPr dirty="0" sz="2000" spc="4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combating </a:t>
            </a:r>
            <a:r>
              <a:rPr dirty="0" sz="2000">
                <a:latin typeface="Times New Roman"/>
                <a:cs typeface="Times New Roman"/>
              </a:rPr>
              <a:t>climate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change.</a:t>
            </a:r>
            <a:endParaRPr sz="2000">
              <a:latin typeface="Times New Roman"/>
              <a:cs typeface="Times New Roman"/>
            </a:endParaRPr>
          </a:p>
          <a:p>
            <a:pPr algn="just" marL="356870" indent="-34417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Nature</a:t>
            </a:r>
            <a:r>
              <a:rPr dirty="0" sz="2000" spc="4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Conservation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AI-</a:t>
            </a:r>
            <a:r>
              <a:rPr dirty="0" sz="2000">
                <a:latin typeface="Times New Roman"/>
                <a:cs typeface="Times New Roman"/>
              </a:rPr>
              <a:t>driven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tools</a:t>
            </a:r>
            <a:r>
              <a:rPr dirty="0" sz="2000" spc="4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  nature</a:t>
            </a:r>
            <a:r>
              <a:rPr dirty="0" sz="2000" spc="4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populations,  </a:t>
            </a:r>
            <a:r>
              <a:rPr dirty="0" sz="2000" spc="-10">
                <a:latin typeface="Times New Roman"/>
                <a:cs typeface="Times New Roman"/>
              </a:rPr>
              <a:t>detect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activities,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conservation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common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species.</a:t>
            </a:r>
            <a:endParaRPr sz="2000">
              <a:latin typeface="Times New Roman"/>
              <a:cs typeface="Times New Roman"/>
            </a:endParaRPr>
          </a:p>
          <a:p>
            <a:pPr algn="just" marL="356870" marR="9525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Energy</a:t>
            </a:r>
            <a:r>
              <a:rPr dirty="0" sz="2000" spc="110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Management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2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10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optimize</a:t>
            </a:r>
            <a:r>
              <a:rPr dirty="0" sz="2000" spc="114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energy</a:t>
            </a:r>
            <a:r>
              <a:rPr dirty="0" sz="2000" spc="9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consumption</a:t>
            </a:r>
            <a:r>
              <a:rPr dirty="0" sz="2000" spc="10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14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homes</a:t>
            </a:r>
            <a:r>
              <a:rPr dirty="0" sz="2000" spc="105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industries,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promoting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renewable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energy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sources.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0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182" y="2081021"/>
            <a:ext cx="8829675" cy="2991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Customer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Service</a:t>
            </a:r>
            <a:endParaRPr sz="2400">
              <a:latin typeface="Times New Roman"/>
              <a:cs typeface="Times New Roman"/>
            </a:endParaRPr>
          </a:p>
          <a:p>
            <a:pPr algn="just" marL="356870" marR="5080" indent="-344805">
              <a:lnSpc>
                <a:spcPct val="150000"/>
              </a:lnSpc>
              <a:spcBef>
                <a:spcPts val="246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Chatbots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Virtual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Assistants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AI-</a:t>
            </a:r>
            <a:r>
              <a:rPr dirty="0" sz="2000">
                <a:latin typeface="Times New Roman"/>
                <a:cs typeface="Times New Roman"/>
              </a:rPr>
              <a:t>powered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chatbots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virtual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assistants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can </a:t>
            </a:r>
            <a:r>
              <a:rPr dirty="0" sz="2000">
                <a:latin typeface="Times New Roman"/>
                <a:cs typeface="Times New Roman"/>
              </a:rPr>
              <a:t>handle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customer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inquiries,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recommendations,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offer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support,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improving </a:t>
            </a:r>
            <a:r>
              <a:rPr dirty="0" sz="2000">
                <a:latin typeface="Times New Roman"/>
                <a:cs typeface="Times New Roman"/>
              </a:rPr>
              <a:t>customer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service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efficiency.</a:t>
            </a:r>
            <a:endParaRPr sz="2000">
              <a:latin typeface="Times New Roman"/>
              <a:cs typeface="Times New Roman"/>
            </a:endParaRPr>
          </a:p>
          <a:p>
            <a:pPr algn="just" marL="356870" marR="5715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Sentiment</a:t>
            </a:r>
            <a:r>
              <a:rPr dirty="0" sz="2000" spc="15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Analysis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2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2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customer</a:t>
            </a:r>
            <a:r>
              <a:rPr dirty="0" sz="2000" spc="2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feedback</a:t>
            </a:r>
            <a:r>
              <a:rPr dirty="0" sz="2000" spc="2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social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media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instrument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public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sentiment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products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services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accordingly.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739" y="1502155"/>
            <a:ext cx="12026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072" y="1812854"/>
            <a:ext cx="8700135" cy="2436495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400" spc="-10" b="1">
                <a:latin typeface="Times New Roman"/>
                <a:cs typeface="Times New Roman"/>
              </a:rPr>
              <a:t>Entertainment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31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Content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Creation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creating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song,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art,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literature, offering</a:t>
            </a:r>
            <a:r>
              <a:rPr dirty="0" sz="2000" spc="-25">
                <a:latin typeface="Times New Roman"/>
                <a:cs typeface="Times New Roman"/>
              </a:rPr>
              <a:t> new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tools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artists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creators.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Personalized</a:t>
            </a:r>
            <a:r>
              <a:rPr dirty="0" sz="2000" spc="5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Recommendations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algorithms  can  suggest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movies,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music,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books,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individual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preferences.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379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8739" y="1502155"/>
            <a:ext cx="1202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Cont…...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13182" y="2159330"/>
            <a:ext cx="239395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000000"/>
                </a:solidFill>
                <a:latin typeface="Arial"/>
                <a:cs typeface="Arial"/>
              </a:rPr>
              <a:t>Smart</a:t>
            </a:r>
            <a:r>
              <a:rPr dirty="0" sz="3200" spc="-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Arial"/>
                <a:cs typeface="Arial"/>
              </a:rPr>
              <a:t>Cities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182" y="2579704"/>
            <a:ext cx="8697595" cy="2221865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545"/>
              </a:spcBef>
              <a:buFont typeface="Wingdings"/>
              <a:buChar char=""/>
              <a:tabLst>
                <a:tab pos="356870" algn="l"/>
                <a:tab pos="2494280" algn="l"/>
                <a:tab pos="4549140" algn="l"/>
                <a:tab pos="5131435" algn="l"/>
                <a:tab pos="5811520" algn="l"/>
                <a:tab pos="7141209" algn="l"/>
                <a:tab pos="7771765" algn="l"/>
                <a:tab pos="8436610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Infrastructure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Management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AI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can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optimize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use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445"/>
              </a:spcBef>
            </a:pPr>
            <a:r>
              <a:rPr dirty="0" sz="2400">
                <a:latin typeface="Times New Roman"/>
                <a:cs typeface="Times New Roman"/>
              </a:rPr>
              <a:t>resources,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utilities,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maintain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infrastructure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efficiently.</a:t>
            </a:r>
            <a:endParaRPr sz="24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400" b="1">
                <a:latin typeface="Times New Roman"/>
                <a:cs typeface="Times New Roman"/>
              </a:rPr>
              <a:t>Public</a:t>
            </a:r>
            <a:r>
              <a:rPr dirty="0" sz="2400" spc="2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Safety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260">
                <a:latin typeface="Times New Roman"/>
                <a:cs typeface="Times New Roman"/>
              </a:rPr>
              <a:t> </a:t>
            </a:r>
            <a:r>
              <a:rPr dirty="0" sz="2400" spc="-35">
                <a:latin typeface="Times New Roman"/>
                <a:cs typeface="Times New Roman"/>
              </a:rPr>
              <a:t>AI-</a:t>
            </a:r>
            <a:r>
              <a:rPr dirty="0" sz="2400">
                <a:latin typeface="Times New Roman"/>
                <a:cs typeface="Times New Roman"/>
              </a:rPr>
              <a:t>driven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surveillance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systems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enhance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public </a:t>
            </a:r>
            <a:r>
              <a:rPr dirty="0" sz="2400">
                <a:latin typeface="Times New Roman"/>
                <a:cs typeface="Times New Roman"/>
              </a:rPr>
              <a:t>safety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monitoring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answering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potential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threats.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503" y="2791968"/>
              <a:ext cx="5431536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481328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739" y="1532331"/>
            <a:ext cx="113982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Cont….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739" y="2209879"/>
            <a:ext cx="8609965" cy="2894965"/>
          </a:xfrm>
          <a:prstGeom prst="rect">
            <a:avLst/>
          </a:prstGeom>
        </p:spPr>
        <p:txBody>
          <a:bodyPr wrap="square" lIns="0" tIns="2146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 sz="2400" b="1">
                <a:latin typeface="Times New Roman"/>
                <a:cs typeface="Times New Roman"/>
              </a:rPr>
              <a:t>AI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Ethics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Governance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3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Ethical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AI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Development</a:t>
            </a:r>
            <a:r>
              <a:rPr dirty="0" sz="2000">
                <a:latin typeface="Times New Roman"/>
                <a:cs typeface="Times New Roman"/>
              </a:rPr>
              <a:t>: As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becomes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society,</a:t>
            </a:r>
            <a:r>
              <a:rPr dirty="0" sz="2000" spc="-10">
                <a:latin typeface="Times New Roman"/>
                <a:cs typeface="Times New Roman"/>
              </a:rPr>
              <a:t> ensuring</a:t>
            </a:r>
            <a:endParaRPr sz="2000">
              <a:latin typeface="Times New Roman"/>
              <a:cs typeface="Times New Roman"/>
            </a:endParaRPr>
          </a:p>
          <a:p>
            <a:pPr algn="just"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ethical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avoiding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biases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important.</a:t>
            </a:r>
            <a:endParaRPr sz="2000">
              <a:latin typeface="Times New Roman"/>
              <a:cs typeface="Times New Roman"/>
            </a:endParaRPr>
          </a:p>
          <a:p>
            <a:pPr algn="just" marL="356870" marR="508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Regulation</a:t>
            </a:r>
            <a:r>
              <a:rPr dirty="0" sz="2000" spc="2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2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Policy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Governments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organizations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develop </a:t>
            </a:r>
            <a:r>
              <a:rPr dirty="0" sz="2000">
                <a:latin typeface="Times New Roman"/>
                <a:cs typeface="Times New Roman"/>
              </a:rPr>
              <a:t>policies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regulations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govern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3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AI,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ensuring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benefits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society </a:t>
            </a:r>
            <a:r>
              <a:rPr dirty="0" sz="2000">
                <a:latin typeface="Times New Roman"/>
                <a:cs typeface="Times New Roman"/>
              </a:rPr>
              <a:t>while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minimizing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C:\Users\parul\Desktop\Digital Learning Content.png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389887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739" y="1473835"/>
            <a:ext cx="6797675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/>
              <a:t>Application</a:t>
            </a:r>
            <a:r>
              <a:rPr dirty="0" sz="2800" spc="-95"/>
              <a:t> </a:t>
            </a:r>
            <a:r>
              <a:rPr dirty="0" sz="2800"/>
              <a:t>of</a:t>
            </a:r>
            <a:r>
              <a:rPr dirty="0" sz="2800" spc="-10"/>
              <a:t> </a:t>
            </a:r>
            <a:r>
              <a:rPr dirty="0" sz="2800"/>
              <a:t>AI</a:t>
            </a:r>
            <a:r>
              <a:rPr dirty="0" sz="2800" spc="-40"/>
              <a:t> </a:t>
            </a:r>
            <a:r>
              <a:rPr dirty="0" sz="2800"/>
              <a:t>(E-commerce</a:t>
            </a:r>
            <a:r>
              <a:rPr dirty="0" sz="2800" spc="-15"/>
              <a:t> </a:t>
            </a:r>
            <a:r>
              <a:rPr dirty="0" sz="2800"/>
              <a:t>&amp;</a:t>
            </a:r>
            <a:r>
              <a:rPr dirty="0" sz="2800" spc="-10"/>
              <a:t> Medicine)</a:t>
            </a:r>
            <a:endParaRPr sz="28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6568" y="2104821"/>
            <a:ext cx="8756015" cy="4337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 marR="5080">
              <a:lnSpc>
                <a:spcPct val="1501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e-</a:t>
            </a:r>
            <a:r>
              <a:rPr dirty="0" sz="2000">
                <a:latin typeface="Times New Roman"/>
                <a:cs typeface="Times New Roman"/>
              </a:rPr>
              <a:t>commerce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include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recommendations,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chatbots,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virtual </a:t>
            </a:r>
            <a:r>
              <a:rPr dirty="0" sz="2000">
                <a:latin typeface="Times New Roman"/>
                <a:cs typeface="Times New Roman"/>
              </a:rPr>
              <a:t>shopping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assistants,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dynamic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evaluating,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fraud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logistics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optimization.</a:t>
            </a:r>
            <a:endParaRPr sz="2000">
              <a:latin typeface="Times New Roman"/>
              <a:cs typeface="Times New Roman"/>
            </a:endParaRPr>
          </a:p>
          <a:p>
            <a:pPr marL="41275" marR="6985">
              <a:lnSpc>
                <a:spcPts val="3600"/>
              </a:lnSpc>
              <a:spcBef>
                <a:spcPts val="320"/>
              </a:spcBef>
            </a:pP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customer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reviews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marketing strategies.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3200" spc="-20" b="1">
                <a:latin typeface="Times New Roman"/>
                <a:cs typeface="Times New Roman"/>
              </a:rPr>
              <a:t>E-</a:t>
            </a:r>
            <a:r>
              <a:rPr dirty="0" sz="3200" spc="-10" b="1">
                <a:latin typeface="Times New Roman"/>
                <a:cs typeface="Times New Roman"/>
              </a:rPr>
              <a:t>commerce:</a:t>
            </a:r>
            <a:endParaRPr sz="32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25"/>
              </a:spcBef>
            </a:pPr>
            <a:r>
              <a:rPr dirty="0" sz="2000" spc="-10">
                <a:latin typeface="Times New Roman"/>
                <a:cs typeface="Times New Roman"/>
              </a:rPr>
              <a:t>1.</a:t>
            </a:r>
            <a:r>
              <a:rPr dirty="0" sz="1800" spc="-10" b="1">
                <a:latin typeface="Times New Roman"/>
                <a:cs typeface="Times New Roman"/>
              </a:rPr>
              <a:t>Personalization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Product</a:t>
            </a:r>
            <a:r>
              <a:rPr dirty="0" sz="1800" spc="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Recommendations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algorithms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analyze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browsing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history,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purchase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behavior,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preferences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recommend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products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individual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users.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Personalized</a:t>
            </a:r>
            <a:r>
              <a:rPr dirty="0" sz="1800" spc="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Marketing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create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customized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marketing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messages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offers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based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customer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arrangement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conversion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rates.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1662"/>
            <a:ext cx="9144000" cy="6675120"/>
            <a:chOff x="0" y="91662"/>
            <a:chExt cx="9144000" cy="6675120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662"/>
              <a:ext cx="9144000" cy="66746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389887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456" y="143256"/>
              <a:ext cx="4053840" cy="100584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4998" y="1433017"/>
            <a:ext cx="149098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"/>
              <a:t>Cont…..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164998" y="1868920"/>
            <a:ext cx="8667115" cy="419417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320"/>
              </a:spcBef>
              <a:buSzPct val="111111"/>
              <a:buAutoNum type="arabicPeriod" startAt="2"/>
              <a:tabLst>
                <a:tab pos="264795" algn="l"/>
              </a:tabLst>
            </a:pPr>
            <a:r>
              <a:rPr dirty="0" sz="1800" b="1">
                <a:latin typeface="Times New Roman"/>
                <a:cs typeface="Times New Roman"/>
              </a:rPr>
              <a:t>Customer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Service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111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Chatbots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AI-</a:t>
            </a:r>
            <a:r>
              <a:rPr dirty="0" sz="1800">
                <a:latin typeface="Times New Roman"/>
                <a:cs typeface="Times New Roman"/>
              </a:rPr>
              <a:t>driven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chatbots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handle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customer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inquiries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24/7,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providing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instant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responses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solutions.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They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common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questions,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track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orders,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assist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 </a:t>
            </a:r>
            <a:r>
              <a:rPr dirty="0" sz="1800" spc="-10">
                <a:latin typeface="Times New Roman"/>
                <a:cs typeface="Times New Roman"/>
              </a:rPr>
              <a:t>returns.</a:t>
            </a:r>
            <a:endParaRPr sz="18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Virtual</a:t>
            </a:r>
            <a:r>
              <a:rPr dirty="0" sz="1800" spc="60" b="1">
                <a:latin typeface="Times New Roman"/>
                <a:cs typeface="Times New Roman"/>
              </a:rPr>
              <a:t>  </a:t>
            </a:r>
            <a:r>
              <a:rPr dirty="0" sz="1800" b="1">
                <a:latin typeface="Times New Roman"/>
                <a:cs typeface="Times New Roman"/>
              </a:rPr>
              <a:t>Assistants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6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6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advanced</a:t>
            </a:r>
            <a:r>
              <a:rPr dirty="0" sz="1800" spc="6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than</a:t>
            </a:r>
            <a:r>
              <a:rPr dirty="0" sz="1800" spc="5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chatbots,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virtual</a:t>
            </a:r>
            <a:r>
              <a:rPr dirty="0" sz="1800" spc="5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assistants</a:t>
            </a:r>
            <a:r>
              <a:rPr dirty="0" sz="1800" spc="6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offer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 spc="-20">
                <a:latin typeface="Times New Roman"/>
                <a:cs typeface="Times New Roman"/>
              </a:rPr>
              <a:t>more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context-</a:t>
            </a:r>
            <a:r>
              <a:rPr dirty="0" sz="1800">
                <a:latin typeface="Times New Roman"/>
                <a:cs typeface="Times New Roman"/>
              </a:rPr>
              <a:t>aware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assistance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customers.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85"/>
              </a:spcBef>
              <a:buAutoNum type="arabicPeriod" startAt="3"/>
              <a:tabLst>
                <a:tab pos="240665" algn="l"/>
              </a:tabLst>
            </a:pPr>
            <a:r>
              <a:rPr dirty="0" sz="1800" b="1">
                <a:latin typeface="Times New Roman"/>
                <a:cs typeface="Times New Roman"/>
              </a:rPr>
              <a:t>List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Management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Demand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Forecasting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3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predict</a:t>
            </a:r>
            <a:r>
              <a:rPr dirty="0" sz="1800" spc="3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future</a:t>
            </a:r>
            <a:r>
              <a:rPr dirty="0" sz="1800" spc="3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product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demand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historical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data,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trends,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external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helping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businesses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optimize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inventory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levels.</a:t>
            </a:r>
            <a:endParaRPr sz="18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Automated</a:t>
            </a:r>
            <a:r>
              <a:rPr dirty="0" sz="1800" spc="55" b="1">
                <a:latin typeface="Times New Roman"/>
                <a:cs typeface="Times New Roman"/>
              </a:rPr>
              <a:t>  </a:t>
            </a:r>
            <a:r>
              <a:rPr dirty="0" sz="1800" b="1">
                <a:latin typeface="Times New Roman"/>
                <a:cs typeface="Times New Roman"/>
              </a:rPr>
              <a:t>Restocking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systems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8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automate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restocking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process,</a:t>
            </a:r>
            <a:r>
              <a:rPr dirty="0" sz="1800" spc="80">
                <a:latin typeface="Times New Roman"/>
                <a:cs typeface="Times New Roman"/>
              </a:rPr>
              <a:t>  </a:t>
            </a:r>
            <a:r>
              <a:rPr dirty="0" sz="1800" spc="-10">
                <a:latin typeface="Times New Roman"/>
                <a:cs typeface="Times New Roman"/>
              </a:rPr>
              <a:t>ensuring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popular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items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 always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available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overstock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popular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items.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C:\Users\parul\Desktop\Digital Learning Content.png"/>
          <p:cNvGrpSpPr/>
          <p:nvPr/>
        </p:nvGrpSpPr>
        <p:grpSpPr>
          <a:xfrm>
            <a:off x="0" y="83356"/>
            <a:ext cx="9144000" cy="6677025"/>
            <a:chOff x="0" y="83356"/>
            <a:chExt cx="9144000" cy="667702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3356"/>
              <a:ext cx="9144000" cy="66768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389887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739" y="1473835"/>
            <a:ext cx="131318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10"/>
              <a:t>Cont…..</a:t>
            </a:r>
            <a:endParaRPr sz="28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155" y="1866369"/>
            <a:ext cx="8736330" cy="4633595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1695"/>
              </a:spcBef>
              <a:buAutoNum type="arabicPeriod" startAt="4"/>
              <a:tabLst>
                <a:tab pos="316230" algn="l"/>
              </a:tabLst>
            </a:pPr>
            <a:r>
              <a:rPr dirty="0" sz="2400" b="1">
                <a:latin typeface="Times New Roman"/>
                <a:cs typeface="Times New Roman"/>
              </a:rPr>
              <a:t>Evaluating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Optimization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algn="just" lvl="1" marL="356870" marR="9525" indent="-344805">
              <a:lnSpc>
                <a:spcPct val="150100"/>
              </a:lnSpc>
              <a:spcBef>
                <a:spcPts val="11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Dynamic</a:t>
            </a:r>
            <a:r>
              <a:rPr dirty="0" sz="2000" spc="1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Pricing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adjust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prices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supply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demand,</a:t>
            </a:r>
            <a:r>
              <a:rPr dirty="0" sz="2000" spc="3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competitor</a:t>
            </a:r>
            <a:r>
              <a:rPr dirty="0" sz="2000" spc="3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pricing,</a:t>
            </a:r>
            <a:r>
              <a:rPr dirty="0" sz="2000" spc="33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3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factors,</a:t>
            </a:r>
            <a:r>
              <a:rPr dirty="0" sz="2000" spc="32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maximizing</a:t>
            </a:r>
            <a:r>
              <a:rPr dirty="0" sz="2000" spc="33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profits</a:t>
            </a:r>
            <a:r>
              <a:rPr dirty="0" sz="2000" spc="330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 spc="-10">
                <a:latin typeface="Times New Roman"/>
                <a:cs typeface="Times New Roman"/>
              </a:rPr>
              <a:t>competitiveness.</a:t>
            </a:r>
            <a:endParaRPr sz="2000">
              <a:latin typeface="Times New Roman"/>
              <a:cs typeface="Times New Roman"/>
            </a:endParaRPr>
          </a:p>
          <a:p>
            <a:pPr algn="just" lvl="1" marL="356870" marR="508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Personalized</a:t>
            </a:r>
            <a:r>
              <a:rPr dirty="0" sz="2000" spc="1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Pricing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offer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discounts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pricing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on </a:t>
            </a:r>
            <a:r>
              <a:rPr dirty="0" sz="2000">
                <a:latin typeface="Times New Roman"/>
                <a:cs typeface="Times New Roman"/>
              </a:rPr>
              <a:t>customer profiles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behavior.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000">
              <a:latin typeface="Times New Roman"/>
              <a:cs typeface="Times New Roman"/>
            </a:endParaRPr>
          </a:p>
          <a:p>
            <a:pPr marL="316230" indent="-303530">
              <a:lnSpc>
                <a:spcPct val="100000"/>
              </a:lnSpc>
              <a:buAutoNum type="arabicPeriod" startAt="5"/>
              <a:tabLst>
                <a:tab pos="316230" algn="l"/>
              </a:tabLst>
            </a:pPr>
            <a:r>
              <a:rPr dirty="0" sz="2400" b="1">
                <a:latin typeface="Times New Roman"/>
                <a:cs typeface="Times New Roman"/>
              </a:rPr>
              <a:t>Fraud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Detection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356870" indent="-34417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Transaction</a:t>
            </a:r>
            <a:r>
              <a:rPr dirty="0" sz="2000" spc="1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Monitoring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transactions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prevent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fraudulent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activities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unusual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patterns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behaviors.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2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Cont……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9090" y="2051380"/>
            <a:ext cx="8849360" cy="2442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Enhanced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Search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Navigation: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Times New Roman"/>
              <a:buAutoNum type="arabicPeriod" startAt="6"/>
            </a:pPr>
            <a:endParaRPr sz="24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Visual</a:t>
            </a:r>
            <a:r>
              <a:rPr dirty="0" sz="2000" spc="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Search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AI-</a:t>
            </a:r>
            <a:r>
              <a:rPr dirty="0" sz="2000">
                <a:latin typeface="Times New Roman"/>
                <a:cs typeface="Times New Roman"/>
              </a:rPr>
              <a:t>powered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visual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using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rather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keywords,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shopping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experience.</a:t>
            </a:r>
            <a:endParaRPr sz="2000">
              <a:latin typeface="Times New Roman"/>
              <a:cs typeface="Times New Roman"/>
            </a:endParaRPr>
          </a:p>
          <a:p>
            <a:pPr lvl="1" marL="299085" marR="5080" indent="-287020">
              <a:lnSpc>
                <a:spcPct val="150100"/>
              </a:lnSpc>
              <a:buFont typeface="Wingdings"/>
              <a:buChar char=""/>
              <a:tabLst>
                <a:tab pos="299085" algn="l"/>
                <a:tab pos="1311275" algn="l"/>
                <a:tab pos="2548890" algn="l"/>
                <a:tab pos="3869054" algn="l"/>
                <a:tab pos="4780915" algn="l"/>
                <a:tab pos="5210810" algn="l"/>
                <a:tab pos="6305550" algn="l"/>
                <a:tab pos="7119620" algn="l"/>
                <a:tab pos="857440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Natural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Times New Roman"/>
                <a:cs typeface="Times New Roman"/>
              </a:rPr>
              <a:t>Language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Times New Roman"/>
                <a:cs typeface="Times New Roman"/>
              </a:rPr>
              <a:t>Processing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Times New Roman"/>
                <a:cs typeface="Times New Roman"/>
              </a:rPr>
              <a:t>(NLP)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AI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enhances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search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functionality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by </a:t>
            </a:r>
            <a:r>
              <a:rPr dirty="0" sz="2000">
                <a:latin typeface="Times New Roman"/>
                <a:cs typeface="Times New Roman"/>
              </a:rPr>
              <a:t>understanding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queries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natural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language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2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Application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AI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Medicine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31444" y="2174824"/>
            <a:ext cx="8551545" cy="424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31775">
              <a:lnSpc>
                <a:spcPts val="2875"/>
              </a:lnSpc>
              <a:spcBef>
                <a:spcPts val="100"/>
              </a:spcBef>
              <a:buSzPct val="95833"/>
              <a:buAutoNum type="arabicPeriod"/>
              <a:tabLst>
                <a:tab pos="240029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Diagnostics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299085" indent="-286385">
              <a:lnSpc>
                <a:spcPts val="24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Medical</a:t>
            </a:r>
            <a:r>
              <a:rPr dirty="0" sz="2000" spc="1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Imaging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20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medical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(e.g.,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X-</a:t>
            </a:r>
            <a:r>
              <a:rPr dirty="0" sz="2000">
                <a:latin typeface="Times New Roman"/>
                <a:cs typeface="Times New Roman"/>
              </a:rPr>
              <a:t>rays,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MRIs,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CT</a:t>
            </a:r>
            <a:r>
              <a:rPr dirty="0" sz="2000" spc="2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scans)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abnormalities,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tumors,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fractures,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diseases,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high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accuracy.</a:t>
            </a:r>
            <a:endParaRPr sz="20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Pathology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3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analyzing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pathology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slides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3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cancerous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cells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pathological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conditions.</a:t>
            </a:r>
            <a:endParaRPr sz="2000">
              <a:latin typeface="Times New Roman"/>
              <a:cs typeface="Times New Roman"/>
            </a:endParaRPr>
          </a:p>
          <a:p>
            <a:pPr marL="240029" indent="-231775">
              <a:lnSpc>
                <a:spcPct val="100000"/>
              </a:lnSpc>
              <a:spcBef>
                <a:spcPts val="919"/>
              </a:spcBef>
              <a:buSzPct val="95833"/>
              <a:buAutoNum type="arabicPeriod" startAt="2"/>
              <a:tabLst>
                <a:tab pos="240029" algn="l"/>
              </a:tabLst>
            </a:pPr>
            <a:r>
              <a:rPr dirty="0" sz="2400" b="1">
                <a:latin typeface="Times New Roman"/>
                <a:cs typeface="Times New Roman"/>
              </a:rPr>
              <a:t>Predictive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Analytics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299085" marR="5080" indent="-287020">
              <a:lnSpc>
                <a:spcPct val="150100"/>
              </a:lnSpc>
              <a:spcBef>
                <a:spcPts val="11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Disease</a:t>
            </a:r>
            <a:r>
              <a:rPr dirty="0" sz="2000" spc="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Prediction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likelihood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developing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certain </a:t>
            </a:r>
            <a:r>
              <a:rPr dirty="0" sz="2000">
                <a:latin typeface="Times New Roman"/>
                <a:cs typeface="Times New Roman"/>
              </a:rPr>
              <a:t>diseases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genetic,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lifestyle,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environmental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factors.</a:t>
            </a:r>
            <a:endParaRPr sz="2000">
              <a:latin typeface="Times New Roman"/>
              <a:cs typeface="Times New Roman"/>
            </a:endParaRPr>
          </a:p>
          <a:p>
            <a:pPr lvl="1" marL="299085" marR="10795" indent="-287020">
              <a:lnSpc>
                <a:spcPts val="3600"/>
              </a:lnSpc>
              <a:spcBef>
                <a:spcPts val="12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Patient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Outcomes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patient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outcomes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complications, </a:t>
            </a:r>
            <a:r>
              <a:rPr dirty="0" sz="2000">
                <a:latin typeface="Times New Roman"/>
                <a:cs typeface="Times New Roman"/>
              </a:rPr>
              <a:t>helping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early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intervention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treatment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plans.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739" y="1457909"/>
            <a:ext cx="112649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31444" y="1805509"/>
            <a:ext cx="8685530" cy="4816475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1695"/>
              </a:spcBef>
              <a:buSzPct val="83333"/>
              <a:buAutoNum type="arabicPeriod" startAt="3"/>
              <a:tabLst>
                <a:tab pos="265430" algn="l"/>
              </a:tabLst>
            </a:pPr>
            <a:r>
              <a:rPr dirty="0" sz="2400" b="1">
                <a:latin typeface="Times New Roman"/>
                <a:cs typeface="Times New Roman"/>
              </a:rPr>
              <a:t>Personalized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Medicine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356870" marR="6985" indent="-344805">
              <a:lnSpc>
                <a:spcPct val="150100"/>
              </a:lnSpc>
              <a:spcBef>
                <a:spcPts val="1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Genomics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genetic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mutations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variations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linked</a:t>
            </a:r>
            <a:r>
              <a:rPr dirty="0" sz="2000" spc="-25">
                <a:latin typeface="Times New Roman"/>
                <a:cs typeface="Times New Roman"/>
              </a:rPr>
              <a:t> to </a:t>
            </a: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diseases,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aiding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treatment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plans.</a:t>
            </a:r>
            <a:endParaRPr sz="2000">
              <a:latin typeface="Times New Roman"/>
              <a:cs typeface="Times New Roman"/>
            </a:endParaRPr>
          </a:p>
          <a:p>
            <a:pPr lvl="1"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Treatment</a:t>
            </a:r>
            <a:r>
              <a:rPr dirty="0" sz="2000" spc="1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Optimization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helps</a:t>
            </a:r>
            <a:r>
              <a:rPr dirty="0" sz="2000" spc="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identifying</a:t>
            </a:r>
            <a:r>
              <a:rPr dirty="0" sz="2000" spc="1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most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effective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treatments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individual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patients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makeup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medical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history.</a:t>
            </a:r>
            <a:endParaRPr sz="2000">
              <a:latin typeface="Times New Roman"/>
              <a:cs typeface="Times New Roman"/>
            </a:endParaRPr>
          </a:p>
          <a:p>
            <a:pPr marL="292735" indent="-280035">
              <a:lnSpc>
                <a:spcPct val="100000"/>
              </a:lnSpc>
              <a:spcBef>
                <a:spcPts val="1330"/>
              </a:spcBef>
              <a:buSzPct val="83333"/>
              <a:buAutoNum type="arabicPeriod" startAt="4"/>
              <a:tabLst>
                <a:tab pos="292735" algn="l"/>
              </a:tabLst>
            </a:pPr>
            <a:r>
              <a:rPr dirty="0" sz="2400" b="1">
                <a:latin typeface="Times New Roman"/>
                <a:cs typeface="Times New Roman"/>
              </a:rPr>
              <a:t>Robotics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Automation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356870" marR="5080" indent="-344805">
              <a:lnSpc>
                <a:spcPct val="150100"/>
              </a:lnSpc>
              <a:spcBef>
                <a:spcPts val="11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Surgical</a:t>
            </a:r>
            <a:r>
              <a:rPr dirty="0" sz="2000" spc="5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Robots</a:t>
            </a:r>
            <a:r>
              <a:rPr dirty="0" sz="2000">
                <a:latin typeface="Times New Roman"/>
                <a:cs typeface="Times New Roman"/>
              </a:rPr>
              <a:t>:  </a:t>
            </a:r>
            <a:r>
              <a:rPr dirty="0" sz="2000" spc="-30">
                <a:latin typeface="Times New Roman"/>
                <a:cs typeface="Times New Roman"/>
              </a:rPr>
              <a:t>AI-</a:t>
            </a:r>
            <a:r>
              <a:rPr dirty="0" sz="2000">
                <a:latin typeface="Times New Roman"/>
                <a:cs typeface="Times New Roman"/>
              </a:rPr>
              <a:t>powered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robots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surgeons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performing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complex </a:t>
            </a:r>
            <a:r>
              <a:rPr dirty="0" sz="2000">
                <a:latin typeface="Times New Roman"/>
                <a:cs typeface="Times New Roman"/>
              </a:rPr>
              <a:t>procedures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precision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minimal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invasiveness.</a:t>
            </a:r>
            <a:endParaRPr sz="2000">
              <a:latin typeface="Times New Roman"/>
              <a:cs typeface="Times New Roman"/>
            </a:endParaRPr>
          </a:p>
          <a:p>
            <a:pPr lvl="1" marL="356870" marR="1016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Automated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automates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routine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tasks,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dispensing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medication, </a:t>
            </a:r>
            <a:r>
              <a:rPr dirty="0" sz="2000">
                <a:latin typeface="Times New Roman"/>
                <a:cs typeface="Times New Roman"/>
              </a:rPr>
              <a:t>managing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patient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records,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scheduling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appointments.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739" y="1425067"/>
            <a:ext cx="1400810" cy="453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10"/>
              <a:t>Cont…...</a:t>
            </a:r>
            <a:endParaRPr sz="28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2021" y="1776912"/>
            <a:ext cx="8903335" cy="4815205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685"/>
              </a:spcBef>
              <a:buAutoNum type="arabicPeriod" startAt="5"/>
              <a:tabLst>
                <a:tab pos="317500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Telemedicine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356870" marR="5080" indent="-344805">
              <a:lnSpc>
                <a:spcPct val="150100"/>
              </a:lnSpc>
              <a:spcBef>
                <a:spcPts val="11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Remote</a:t>
            </a:r>
            <a:r>
              <a:rPr dirty="0" sz="2000" spc="60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Monitoring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enables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remote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monitoring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6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patients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chronic </a:t>
            </a:r>
            <a:r>
              <a:rPr dirty="0" sz="2000">
                <a:latin typeface="Times New Roman"/>
                <a:cs typeface="Times New Roman"/>
              </a:rPr>
              <a:t>conditions,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healthcare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providers.</a:t>
            </a:r>
            <a:endParaRPr sz="2000">
              <a:latin typeface="Times New Roman"/>
              <a:cs typeface="Times New Roman"/>
            </a:endParaRPr>
          </a:p>
          <a:p>
            <a:pPr lvl="1" marL="356870" marR="5080" indent="-344805">
              <a:lnSpc>
                <a:spcPct val="150100"/>
              </a:lnSpc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Virtual</a:t>
            </a:r>
            <a:r>
              <a:rPr dirty="0" sz="2000" spc="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Consultations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supports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virtual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consultations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analyzing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patient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data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healthcare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providers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diagnosis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treatment.</a:t>
            </a:r>
            <a:endParaRPr sz="2000">
              <a:latin typeface="Times New Roman"/>
              <a:cs typeface="Times New Roman"/>
            </a:endParaRPr>
          </a:p>
          <a:p>
            <a:pPr marL="316230" indent="-303530">
              <a:lnSpc>
                <a:spcPct val="100000"/>
              </a:lnSpc>
              <a:spcBef>
                <a:spcPts val="1325"/>
              </a:spcBef>
              <a:buAutoNum type="arabicPeriod" startAt="6"/>
              <a:tabLst>
                <a:tab pos="316230" algn="l"/>
              </a:tabLst>
            </a:pPr>
            <a:r>
              <a:rPr dirty="0" sz="2400" b="1">
                <a:latin typeface="Times New Roman"/>
                <a:cs typeface="Times New Roman"/>
              </a:rPr>
              <a:t>Drug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Discovery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Development</a:t>
            </a:r>
            <a:r>
              <a:rPr dirty="0" sz="2400" spc="-1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lvl="1" marL="356870" marR="5715" indent="-344805">
              <a:lnSpc>
                <a:spcPct val="150100"/>
              </a:lnSpc>
              <a:spcBef>
                <a:spcPts val="114"/>
              </a:spcBef>
              <a:buFont typeface="Wingdings"/>
              <a:buChar char=""/>
              <a:tabLst>
                <a:tab pos="356870" algn="l"/>
                <a:tab pos="1640205" algn="l"/>
                <a:tab pos="2795905" algn="l"/>
                <a:tab pos="3232150" algn="l"/>
                <a:tab pos="4515485" algn="l"/>
                <a:tab pos="5146675" algn="l"/>
                <a:tab pos="6299200" algn="l"/>
                <a:tab pos="6725920" algn="l"/>
                <a:tab pos="788162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Molecular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Times New Roman"/>
                <a:cs typeface="Times New Roman"/>
              </a:rPr>
              <a:t>Analysis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AI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accelerates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0">
                <a:latin typeface="Times New Roman"/>
                <a:cs typeface="Times New Roman"/>
              </a:rPr>
              <a:t>drug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discovery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by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analyzing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molecular </a:t>
            </a:r>
            <a:r>
              <a:rPr dirty="0" sz="2000">
                <a:latin typeface="Times New Roman"/>
                <a:cs typeface="Times New Roman"/>
              </a:rPr>
              <a:t>structures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effects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biological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targets.</a:t>
            </a:r>
            <a:endParaRPr sz="2000">
              <a:latin typeface="Times New Roman"/>
              <a:cs typeface="Times New Roman"/>
            </a:endParaRPr>
          </a:p>
          <a:p>
            <a:pPr lvl="1" marL="356870" indent="-34417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 sz="2000" b="1">
                <a:latin typeface="Times New Roman"/>
                <a:cs typeface="Times New Roman"/>
              </a:rPr>
              <a:t>Clinical</a:t>
            </a:r>
            <a:r>
              <a:rPr dirty="0" sz="2000" spc="3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Trials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3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optimizes</a:t>
            </a:r>
            <a:r>
              <a:rPr dirty="0" sz="2000" spc="3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clinical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trial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design,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patient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recruitment,</a:t>
            </a:r>
            <a:r>
              <a:rPr dirty="0" sz="2000" spc="3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analysis, reducing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cost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bringing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drugs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market.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7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1300" indent="-231775">
              <a:lnSpc>
                <a:spcPct val="100000"/>
              </a:lnSpc>
              <a:spcBef>
                <a:spcPts val="100"/>
              </a:spcBef>
              <a:buSzPct val="95833"/>
              <a:buAutoNum type="arabicPeriod" startAt="7"/>
              <a:tabLst>
                <a:tab pos="241300" algn="l"/>
              </a:tabLst>
            </a:pPr>
            <a:r>
              <a:rPr dirty="0"/>
              <a:t>Health</a:t>
            </a:r>
            <a:r>
              <a:rPr dirty="0" spc="-10"/>
              <a:t> Management</a:t>
            </a:r>
            <a:r>
              <a:rPr dirty="0" spc="-10" b="0">
                <a:latin typeface="Times New Roman"/>
                <a:cs typeface="Times New Roman"/>
              </a:rPr>
              <a:t>:</a:t>
            </a:r>
          </a:p>
          <a:p>
            <a:pPr algn="just" lvl="1" marL="297815" marR="5080" indent="-285750">
              <a:lnSpc>
                <a:spcPct val="150100"/>
              </a:lnSpc>
              <a:spcBef>
                <a:spcPts val="246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Wearable</a:t>
            </a:r>
            <a:r>
              <a:rPr dirty="0" sz="2000" spc="43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Devices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4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analyzes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wearable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devices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</a:t>
            </a:r>
            <a:r>
              <a:rPr dirty="0" sz="2000" spc="4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vital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signs,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activity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levels,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health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metrics,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providing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insights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preventive 	care.</a:t>
            </a:r>
            <a:endParaRPr sz="2000">
              <a:latin typeface="Times New Roman"/>
              <a:cs typeface="Times New Roman"/>
            </a:endParaRPr>
          </a:p>
          <a:p>
            <a:pPr algn="just" lvl="1" marL="298450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2000" b="1">
                <a:latin typeface="Times New Roman"/>
                <a:cs typeface="Times New Roman"/>
              </a:rPr>
              <a:t>Behavioral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Health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mental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health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patterns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behavior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205"/>
              </a:spcBef>
            </a:pPr>
            <a:r>
              <a:rPr dirty="0" sz="2000" b="0">
                <a:latin typeface="Times New Roman"/>
                <a:cs typeface="Times New Roman"/>
              </a:rPr>
              <a:t>and</a:t>
            </a:r>
            <a:r>
              <a:rPr dirty="0" sz="2000" spc="-3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speech</a:t>
            </a:r>
            <a:r>
              <a:rPr dirty="0" sz="2000" spc="-3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to</a:t>
            </a:r>
            <a:r>
              <a:rPr dirty="0" sz="2000" spc="-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provide</a:t>
            </a:r>
            <a:r>
              <a:rPr dirty="0" sz="2000" spc="-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early</a:t>
            </a:r>
            <a:r>
              <a:rPr dirty="0" sz="2000" spc="-4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warnings</a:t>
            </a:r>
            <a:r>
              <a:rPr dirty="0" sz="2000" spc="4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of</a:t>
            </a:r>
            <a:r>
              <a:rPr dirty="0" sz="2000" spc="-5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conditions</a:t>
            </a:r>
            <a:r>
              <a:rPr dirty="0" sz="2000" spc="-4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like</a:t>
            </a:r>
            <a:r>
              <a:rPr dirty="0" sz="2000" spc="-1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depression</a:t>
            </a:r>
            <a:r>
              <a:rPr dirty="0" sz="2000" spc="-7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and</a:t>
            </a:r>
            <a:r>
              <a:rPr dirty="0" sz="2000" spc="-30" b="0">
                <a:latin typeface="Times New Roman"/>
                <a:cs typeface="Times New Roman"/>
              </a:rPr>
              <a:t> </a:t>
            </a:r>
            <a:r>
              <a:rPr dirty="0" sz="2000" spc="-10" b="0">
                <a:latin typeface="Times New Roman"/>
                <a:cs typeface="Times New Roman"/>
              </a:rPr>
              <a:t>anxiety.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145"/>
            <a:ext cx="9144000" cy="6683375"/>
            <a:chOff x="0" y="125145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145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3296" y="2779776"/>
              <a:ext cx="4005072" cy="280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389887"/>
              <a:ext cx="9144000" cy="546100"/>
            </a:xfrm>
            <a:custGeom>
              <a:avLst/>
              <a:gdLst/>
              <a:ahLst/>
              <a:cxnLst/>
              <a:rect l="l" t="t" r="r" b="b"/>
              <a:pathLst>
                <a:path w="9144000" h="546100">
                  <a:moveTo>
                    <a:pt x="9144000" y="0"/>
                  </a:moveTo>
                  <a:lnTo>
                    <a:pt x="0" y="0"/>
                  </a:lnTo>
                  <a:lnTo>
                    <a:pt x="0" y="545591"/>
                  </a:lnTo>
                  <a:lnTo>
                    <a:pt x="9144000" y="5455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7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Cont….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4053840" cy="100584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1300" indent="-231775">
              <a:lnSpc>
                <a:spcPct val="100000"/>
              </a:lnSpc>
              <a:spcBef>
                <a:spcPts val="100"/>
              </a:spcBef>
              <a:buSzPct val="95833"/>
              <a:buAutoNum type="arabicPeriod" startAt="7"/>
              <a:tabLst>
                <a:tab pos="241300" algn="l"/>
              </a:tabLst>
            </a:pPr>
            <a:r>
              <a:rPr dirty="0"/>
              <a:t>Health</a:t>
            </a:r>
            <a:r>
              <a:rPr dirty="0" spc="-10"/>
              <a:t> Management</a:t>
            </a:r>
            <a:r>
              <a:rPr dirty="0" spc="-10" b="0">
                <a:latin typeface="Times New Roman"/>
                <a:cs typeface="Times New Roman"/>
              </a:rPr>
              <a:t>:</a:t>
            </a:r>
          </a:p>
          <a:p>
            <a:pPr algn="just" lvl="1" marL="297815" marR="5080" indent="-285750">
              <a:lnSpc>
                <a:spcPct val="150100"/>
              </a:lnSpc>
              <a:spcBef>
                <a:spcPts val="246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Wearable</a:t>
            </a:r>
            <a:r>
              <a:rPr dirty="0" sz="2000" spc="43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Devices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4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analyzes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wearable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devices</a:t>
            </a:r>
            <a:r>
              <a:rPr dirty="0" sz="2000" spc="4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</a:t>
            </a:r>
            <a:r>
              <a:rPr dirty="0" sz="2000" spc="4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vital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signs,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activity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levels,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health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metrics,</a:t>
            </a:r>
            <a:r>
              <a:rPr dirty="0" sz="2000" spc="1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providing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insights</a:t>
            </a:r>
            <a:r>
              <a:rPr dirty="0" sz="2000" spc="2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1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preventive 	care.</a:t>
            </a:r>
            <a:endParaRPr sz="2000">
              <a:latin typeface="Times New Roman"/>
              <a:cs typeface="Times New Roman"/>
            </a:endParaRPr>
          </a:p>
          <a:p>
            <a:pPr algn="just" lvl="1" marL="298450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 sz="2000" b="1">
                <a:latin typeface="Times New Roman"/>
                <a:cs typeface="Times New Roman"/>
              </a:rPr>
              <a:t>Behavioral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Health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mental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health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patterns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behavior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205"/>
              </a:spcBef>
            </a:pPr>
            <a:r>
              <a:rPr dirty="0" sz="2000" b="0">
                <a:latin typeface="Times New Roman"/>
                <a:cs typeface="Times New Roman"/>
              </a:rPr>
              <a:t>and</a:t>
            </a:r>
            <a:r>
              <a:rPr dirty="0" sz="2000" spc="-3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speech</a:t>
            </a:r>
            <a:r>
              <a:rPr dirty="0" sz="2000" spc="-3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to</a:t>
            </a:r>
            <a:r>
              <a:rPr dirty="0" sz="2000" spc="-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provide</a:t>
            </a:r>
            <a:r>
              <a:rPr dirty="0" sz="2000" spc="-5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early</a:t>
            </a:r>
            <a:r>
              <a:rPr dirty="0" sz="2000" spc="-4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warnings</a:t>
            </a:r>
            <a:r>
              <a:rPr dirty="0" sz="2000" spc="4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of</a:t>
            </a:r>
            <a:r>
              <a:rPr dirty="0" sz="2000" spc="-5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conditions</a:t>
            </a:r>
            <a:r>
              <a:rPr dirty="0" sz="2000" spc="-4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like</a:t>
            </a:r>
            <a:r>
              <a:rPr dirty="0" sz="2000" spc="-15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depression</a:t>
            </a:r>
            <a:r>
              <a:rPr dirty="0" sz="2000" spc="-70" b="0">
                <a:latin typeface="Times New Roman"/>
                <a:cs typeface="Times New Roman"/>
              </a:rPr>
              <a:t> </a:t>
            </a:r>
            <a:r>
              <a:rPr dirty="0" sz="2000" b="0">
                <a:latin typeface="Times New Roman"/>
                <a:cs typeface="Times New Roman"/>
              </a:rPr>
              <a:t>and</a:t>
            </a:r>
            <a:r>
              <a:rPr dirty="0" sz="2000" spc="-30" b="0">
                <a:latin typeface="Times New Roman"/>
                <a:cs typeface="Times New Roman"/>
              </a:rPr>
              <a:t> </a:t>
            </a:r>
            <a:r>
              <a:rPr dirty="0" sz="2000" spc="-10" b="0">
                <a:latin typeface="Times New Roman"/>
                <a:cs typeface="Times New Roman"/>
              </a:rPr>
              <a:t>anxiety.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8459"/>
            <a:ext cx="9144000" cy="6683375"/>
            <a:chOff x="0" y="108459"/>
            <a:chExt cx="9144000" cy="6683375"/>
          </a:xfrm>
        </p:grpSpPr>
        <p:pic>
          <p:nvPicPr>
            <p:cNvPr id="3" name="object 3" descr="C:\Users\parul\Desktop\Digital Learning Conten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8459"/>
              <a:ext cx="9144000" cy="6682795"/>
            </a:xfrm>
            <a:prstGeom prst="rect">
              <a:avLst/>
            </a:prstGeom>
          </p:spPr>
        </p:pic>
        <p:pic>
          <p:nvPicPr>
            <p:cNvPr id="4" name="object 4" descr="C:\Users\parul\Desktop\Untitled-1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5" y="2697479"/>
              <a:ext cx="5431536" cy="28011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642872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400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9144000" y="64312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684778" y="1700276"/>
            <a:ext cx="17799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References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56" y="143255"/>
            <a:ext cx="3825240" cy="1005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5122" y="2452095"/>
            <a:ext cx="8489950" cy="249491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356870" algn="l"/>
              </a:tabLst>
            </a:pPr>
            <a:r>
              <a:rPr dirty="0" sz="1800">
                <a:latin typeface="Times New Roman"/>
                <a:cs typeface="Times New Roman"/>
              </a:rPr>
              <a:t>Artificial</a:t>
            </a:r>
            <a:r>
              <a:rPr dirty="0" sz="1800" spc="3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Intelligence:</a:t>
            </a:r>
            <a:r>
              <a:rPr dirty="0" sz="1800" spc="3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New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Synthesis,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Harcourt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Publishers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(Text</a:t>
            </a:r>
            <a:r>
              <a:rPr dirty="0" sz="1800" spc="3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Book)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N.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J.</a:t>
            </a:r>
            <a:endParaRPr sz="18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Nilsson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 Harcourt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Publishers.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 startAt="2"/>
              <a:tabLst>
                <a:tab pos="356870" algn="l"/>
              </a:tabLst>
            </a:pPr>
            <a:r>
              <a:rPr dirty="0" sz="1800">
                <a:latin typeface="Times New Roman"/>
                <a:cs typeface="Times New Roman"/>
              </a:rPr>
              <a:t>Artificial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Intelligence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(Text Book)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Elaine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Rich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Kevin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Knight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TMH.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 startAt="2"/>
              <a:tabLst>
                <a:tab pos="356870" algn="l"/>
              </a:tabLst>
            </a:pPr>
            <a:r>
              <a:rPr dirty="0" sz="1800">
                <a:latin typeface="Times New Roman"/>
                <a:cs typeface="Times New Roman"/>
              </a:rPr>
              <a:t>Artificial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Intelligence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Structures</a:t>
            </a:r>
            <a:r>
              <a:rPr dirty="0" sz="1800" spc="8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Strategies</a:t>
            </a:r>
            <a:r>
              <a:rPr dirty="0" sz="1800" spc="6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Complex</a:t>
            </a:r>
            <a:r>
              <a:rPr dirty="0" sz="1800" spc="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Problem</a:t>
            </a:r>
            <a:r>
              <a:rPr dirty="0" sz="1800" spc="6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Solving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 spc="-25"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latin typeface="Times New Roman"/>
                <a:cs typeface="Times New Roman"/>
              </a:rPr>
              <a:t>George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F.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Luger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Pearson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Education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PHI.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 startAt="4"/>
              <a:tabLst>
                <a:tab pos="356870" algn="l"/>
              </a:tabLst>
            </a:pPr>
            <a:r>
              <a:rPr dirty="0" sz="1800">
                <a:latin typeface="Times New Roman"/>
                <a:cs typeface="Times New Roman"/>
              </a:rPr>
              <a:t>Artificial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Intelligence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Practical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Approach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Patterson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Tata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McGraw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Hill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3.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61176"/>
            <a:ext cx="9144000" cy="497205"/>
          </a:xfrm>
          <a:custGeom>
            <a:avLst/>
            <a:gdLst/>
            <a:ahLst/>
            <a:cxnLst/>
            <a:rect l="l" t="t" r="r" b="b"/>
            <a:pathLst>
              <a:path w="9144000" h="497204">
                <a:moveTo>
                  <a:pt x="0" y="496824"/>
                </a:moveTo>
                <a:lnTo>
                  <a:pt x="9144000" y="496824"/>
                </a:lnTo>
                <a:lnTo>
                  <a:pt x="9144000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215639"/>
            <a:ext cx="9144000" cy="2788920"/>
          </a:xfrm>
          <a:custGeom>
            <a:avLst/>
            <a:gdLst/>
            <a:ahLst/>
            <a:cxnLst/>
            <a:rect l="l" t="t" r="r" b="b"/>
            <a:pathLst>
              <a:path w="9144000" h="2788920">
                <a:moveTo>
                  <a:pt x="0" y="2788920"/>
                </a:moveTo>
                <a:lnTo>
                  <a:pt x="9144000" y="2788920"/>
                </a:lnTo>
                <a:lnTo>
                  <a:pt x="9144000" y="0"/>
                </a:lnTo>
                <a:lnTo>
                  <a:pt x="0" y="0"/>
                </a:lnTo>
                <a:lnTo>
                  <a:pt x="0" y="278892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C:\Users\parul\Desktop\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5823" y="262127"/>
            <a:ext cx="5065776" cy="2855976"/>
          </a:xfrm>
          <a:prstGeom prst="rect">
            <a:avLst/>
          </a:prstGeom>
        </p:spPr>
      </p:pic>
      <p:pic>
        <p:nvPicPr>
          <p:cNvPr id="5" name="object 5" descr="C:\Users\parul\Desktop\2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2304" y="4002023"/>
            <a:ext cx="4279392" cy="569976"/>
          </a:xfrm>
          <a:prstGeom prst="rect">
            <a:avLst/>
          </a:prstGeom>
        </p:spPr>
      </p:pic>
      <p:pic>
        <p:nvPicPr>
          <p:cNvPr id="6" name="object 6" descr="C:\Users\parul\Desktop\Cover Page with yellow patch - Version 18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8855" y="4946903"/>
            <a:ext cx="3066288" cy="25908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6004559"/>
            <a:ext cx="9144000" cy="356870"/>
          </a:xfrm>
          <a:custGeom>
            <a:avLst/>
            <a:gdLst/>
            <a:ahLst/>
            <a:cxnLst/>
            <a:rect l="l" t="t" r="r" b="b"/>
            <a:pathLst>
              <a:path w="9144000" h="356870">
                <a:moveTo>
                  <a:pt x="9144000" y="0"/>
                </a:moveTo>
                <a:lnTo>
                  <a:pt x="0" y="0"/>
                </a:lnTo>
                <a:lnTo>
                  <a:pt x="0" y="356615"/>
                </a:lnTo>
                <a:lnTo>
                  <a:pt x="9144000" y="35661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45307" y="6020815"/>
            <a:ext cx="24593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487C"/>
                </a:solidFill>
                <a:latin typeface="Calibri"/>
                <a:cs typeface="Calibri"/>
                <a:hlinkClick r:id="rId5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103" y="676655"/>
            <a:ext cx="3825240" cy="13075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487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2026-06-06T09:39:07Z</dcterms:created>
  <dcterms:modified xsi:type="dcterms:W3CDTF">2026-06-06T09:39:07Z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2026-05-23T00:00:00Z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2026-06-06T00:00:00Z</vt:filetime>
  </property>
  <property fmtid="{D5CDD505-2E9C-101B-9397-08002B2CF9AE}" pid="6" name="Producer">
    <vt:lpwstr>www.ilovepdf.com</vt:lpwstr>
  </property>
</Properties>
</file>